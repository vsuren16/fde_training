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diagrams/data2.xml" ContentType="application/vnd.openxmlformats-officedocument.drawingml.diagramData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colors1.xml" ContentType="application/vnd.openxmlformats-officedocument.drawingml.diagramColors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38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C49D50-1AD8-4236-BD33-6323D8FD612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1832BEA-CFD8-49DD-AC5E-6BBF4BCF43B1}">
      <dgm:prSet/>
      <dgm:spPr/>
      <dgm:t>
        <a:bodyPr/>
        <a:lstStyle/>
        <a:p>
          <a:r>
            <a:rPr lang="en-US" b="1"/>
            <a:t>Forward Deployed Engineer = Engineer + Consultant + Owner</a:t>
          </a:r>
          <a:endParaRPr lang="en-US"/>
        </a:p>
      </dgm:t>
    </dgm:pt>
    <dgm:pt modelId="{1D81E40E-936C-4E65-8246-DD6C74B4CDC8}" type="parTrans" cxnId="{97C8B475-0A16-4227-8E18-572155C7D61C}">
      <dgm:prSet/>
      <dgm:spPr/>
      <dgm:t>
        <a:bodyPr/>
        <a:lstStyle/>
        <a:p>
          <a:endParaRPr lang="en-US"/>
        </a:p>
      </dgm:t>
    </dgm:pt>
    <dgm:pt modelId="{7B1D7B60-B2F2-4099-81B4-B45C19922CD7}" type="sibTrans" cxnId="{97C8B475-0A16-4227-8E18-572155C7D61C}">
      <dgm:prSet/>
      <dgm:spPr/>
      <dgm:t>
        <a:bodyPr/>
        <a:lstStyle/>
        <a:p>
          <a:endParaRPr lang="en-US"/>
        </a:p>
      </dgm:t>
    </dgm:pt>
    <dgm:pt modelId="{F2937FED-09AE-44AC-AEBB-A0D555A5A802}">
      <dgm:prSet/>
      <dgm:spPr/>
      <dgm:t>
        <a:bodyPr/>
        <a:lstStyle/>
        <a:p>
          <a:r>
            <a:rPr lang="en-US" b="1"/>
            <a:t>An FDE is judged on:</a:t>
          </a:r>
          <a:endParaRPr lang="en-US"/>
        </a:p>
      </dgm:t>
    </dgm:pt>
    <dgm:pt modelId="{E5F57652-13BA-479C-9E90-94FAEA6EF5EE}" type="parTrans" cxnId="{C15DBB35-7DDC-4642-BEF7-D90771505C5D}">
      <dgm:prSet/>
      <dgm:spPr/>
      <dgm:t>
        <a:bodyPr/>
        <a:lstStyle/>
        <a:p>
          <a:endParaRPr lang="en-US"/>
        </a:p>
      </dgm:t>
    </dgm:pt>
    <dgm:pt modelId="{4F18D890-52AB-4B67-8C75-BE69EF7A7D7A}" type="sibTrans" cxnId="{C15DBB35-7DDC-4642-BEF7-D90771505C5D}">
      <dgm:prSet/>
      <dgm:spPr/>
      <dgm:t>
        <a:bodyPr/>
        <a:lstStyle/>
        <a:p>
          <a:endParaRPr lang="en-US"/>
        </a:p>
      </dgm:t>
    </dgm:pt>
    <dgm:pt modelId="{BC8A850C-7B0B-4666-8991-A76D0CEE957A}">
      <dgm:prSet/>
      <dgm:spPr/>
      <dgm:t>
        <a:bodyPr/>
        <a:lstStyle/>
        <a:p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Can the customer </a:t>
          </a:r>
          <a:r>
            <a:rPr lang="en-US" b="1"/>
            <a:t>run this without you?</a:t>
          </a:r>
          <a:endParaRPr lang="en-US"/>
        </a:p>
      </dgm:t>
    </dgm:pt>
    <dgm:pt modelId="{FBE8BE86-6E97-4D53-A23B-898539CB76E1}" type="parTrans" cxnId="{2BB7985F-EF19-4027-8946-C65C24EBF044}">
      <dgm:prSet/>
      <dgm:spPr/>
      <dgm:t>
        <a:bodyPr/>
        <a:lstStyle/>
        <a:p>
          <a:endParaRPr lang="en-US"/>
        </a:p>
      </dgm:t>
    </dgm:pt>
    <dgm:pt modelId="{8024DBB3-18C5-46D5-899D-55DE8E20C9E6}" type="sibTrans" cxnId="{2BB7985F-EF19-4027-8946-C65C24EBF044}">
      <dgm:prSet/>
      <dgm:spPr/>
      <dgm:t>
        <a:bodyPr/>
        <a:lstStyle/>
        <a:p>
          <a:endParaRPr lang="en-US"/>
        </a:p>
      </dgm:t>
    </dgm:pt>
    <dgm:pt modelId="{DFDBBB44-2369-478E-9DF9-99A9904B29E7}">
      <dgm:prSet/>
      <dgm:spPr/>
      <dgm:t>
        <a:bodyPr/>
        <a:lstStyle/>
        <a:p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Does it </a:t>
          </a:r>
          <a:r>
            <a:rPr lang="en-US" b="1"/>
            <a:t>break under real usage?</a:t>
          </a:r>
          <a:endParaRPr lang="en-US"/>
        </a:p>
      </dgm:t>
    </dgm:pt>
    <dgm:pt modelId="{5D38D533-430D-43BB-9E90-08893049B3B1}" type="parTrans" cxnId="{07FFA99A-4495-4D13-B907-AD98980CD3A4}">
      <dgm:prSet/>
      <dgm:spPr/>
      <dgm:t>
        <a:bodyPr/>
        <a:lstStyle/>
        <a:p>
          <a:endParaRPr lang="en-US"/>
        </a:p>
      </dgm:t>
    </dgm:pt>
    <dgm:pt modelId="{9F6959D3-3F15-4D76-9364-BCBE5307522C}" type="sibTrans" cxnId="{07FFA99A-4495-4D13-B907-AD98980CD3A4}">
      <dgm:prSet/>
      <dgm:spPr/>
      <dgm:t>
        <a:bodyPr/>
        <a:lstStyle/>
        <a:p>
          <a:endParaRPr lang="en-US"/>
        </a:p>
      </dgm:t>
    </dgm:pt>
    <dgm:pt modelId="{1332BC98-711E-48F4-8DA1-0A797DE114DF}">
      <dgm:prSet/>
      <dgm:spPr/>
      <dgm:t>
        <a:bodyPr/>
        <a:lstStyle/>
        <a:p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Can it </a:t>
          </a:r>
          <a:r>
            <a:rPr lang="en-US" b="1"/>
            <a:t>scale beyond the POC?</a:t>
          </a:r>
          <a:endParaRPr lang="en-US"/>
        </a:p>
      </dgm:t>
    </dgm:pt>
    <dgm:pt modelId="{8F2DA0FB-E163-4048-8080-701A7883E78E}" type="parTrans" cxnId="{6BB72721-87A3-45B6-9F7C-352C132AF906}">
      <dgm:prSet/>
      <dgm:spPr/>
      <dgm:t>
        <a:bodyPr/>
        <a:lstStyle/>
        <a:p>
          <a:endParaRPr lang="en-US"/>
        </a:p>
      </dgm:t>
    </dgm:pt>
    <dgm:pt modelId="{DFD6BC4C-808D-40F2-A56B-5FA3C47838CD}" type="sibTrans" cxnId="{6BB72721-87A3-45B6-9F7C-352C132AF906}">
      <dgm:prSet/>
      <dgm:spPr/>
      <dgm:t>
        <a:bodyPr/>
        <a:lstStyle/>
        <a:p>
          <a:endParaRPr lang="en-US"/>
        </a:p>
      </dgm:t>
    </dgm:pt>
    <dgm:pt modelId="{43BE249A-149E-451E-A936-64AB618292F9}">
      <dgm:prSet/>
      <dgm:spPr/>
      <dgm:t>
        <a:bodyPr/>
        <a:lstStyle/>
        <a:p>
          <a:r>
            <a:rPr lang="en-US" b="1"/>
            <a:t>If the customer depends on you to explain or fix it, it’s not Senior+.</a:t>
          </a:r>
          <a:endParaRPr lang="en-US"/>
        </a:p>
      </dgm:t>
    </dgm:pt>
    <dgm:pt modelId="{0C1F09DB-9EC0-465F-8A4F-B8F90CC66736}" type="parTrans" cxnId="{5740A4A1-C280-44F6-A4EE-4CC29B7EC309}">
      <dgm:prSet/>
      <dgm:spPr/>
      <dgm:t>
        <a:bodyPr/>
        <a:lstStyle/>
        <a:p>
          <a:endParaRPr lang="en-US"/>
        </a:p>
      </dgm:t>
    </dgm:pt>
    <dgm:pt modelId="{99978111-D01E-4DDE-B39A-B66F3B3B00CB}" type="sibTrans" cxnId="{5740A4A1-C280-44F6-A4EE-4CC29B7EC309}">
      <dgm:prSet/>
      <dgm:spPr/>
      <dgm:t>
        <a:bodyPr/>
        <a:lstStyle/>
        <a:p>
          <a:endParaRPr lang="en-US"/>
        </a:p>
      </dgm:t>
    </dgm:pt>
    <dgm:pt modelId="{C90FDD1D-6E1B-438B-B1D0-DAE61C7ECE57}" type="pres">
      <dgm:prSet presAssocID="{D4C49D50-1AD8-4236-BD33-6323D8FD6126}" presName="linear" presStyleCnt="0">
        <dgm:presLayoutVars>
          <dgm:animLvl val="lvl"/>
          <dgm:resizeHandles val="exact"/>
        </dgm:presLayoutVars>
      </dgm:prSet>
      <dgm:spPr/>
    </dgm:pt>
    <dgm:pt modelId="{BF4FE3A7-BBF1-488D-A23E-DDD8CF3CE7AB}" type="pres">
      <dgm:prSet presAssocID="{C1832BEA-CFD8-49DD-AC5E-6BBF4BCF43B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D457170-1AA4-48C1-AAFD-0C92100088AA}" type="pres">
      <dgm:prSet presAssocID="{7B1D7B60-B2F2-4099-81B4-B45C19922CD7}" presName="spacer" presStyleCnt="0"/>
      <dgm:spPr/>
    </dgm:pt>
    <dgm:pt modelId="{824AAA74-D76E-4754-BEA0-80E4EF82D42C}" type="pres">
      <dgm:prSet presAssocID="{F2937FED-09AE-44AC-AEBB-A0D555A5A80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9A0DAD7-E872-4E5C-B7C9-F953340E4F5A}" type="pres">
      <dgm:prSet presAssocID="{4F18D890-52AB-4B67-8C75-BE69EF7A7D7A}" presName="spacer" presStyleCnt="0"/>
      <dgm:spPr/>
    </dgm:pt>
    <dgm:pt modelId="{1B912629-DF47-44C9-B4D6-AD253F6BBDB8}" type="pres">
      <dgm:prSet presAssocID="{BC8A850C-7B0B-4666-8991-A76D0CEE957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A7E8EAA-06FA-408C-BB92-ED41999C9BEC}" type="pres">
      <dgm:prSet presAssocID="{8024DBB3-18C5-46D5-899D-55DE8E20C9E6}" presName="spacer" presStyleCnt="0"/>
      <dgm:spPr/>
    </dgm:pt>
    <dgm:pt modelId="{79EF0C17-9268-4C85-8C4E-23A028EA3D56}" type="pres">
      <dgm:prSet presAssocID="{DFDBBB44-2369-478E-9DF9-99A9904B29E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4A7503E-E2EA-4079-B90F-A0312D28ED70}" type="pres">
      <dgm:prSet presAssocID="{9F6959D3-3F15-4D76-9364-BCBE5307522C}" presName="spacer" presStyleCnt="0"/>
      <dgm:spPr/>
    </dgm:pt>
    <dgm:pt modelId="{0B0420B3-6B84-4FF9-A063-89CD3B71C0DC}" type="pres">
      <dgm:prSet presAssocID="{1332BC98-711E-48F4-8DA1-0A797DE114D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77C35B6-8E14-47DE-A0DB-6988009E8F96}" type="pres">
      <dgm:prSet presAssocID="{DFD6BC4C-808D-40F2-A56B-5FA3C47838CD}" presName="spacer" presStyleCnt="0"/>
      <dgm:spPr/>
    </dgm:pt>
    <dgm:pt modelId="{B814041A-2FAB-4B1A-9FBD-DE655B1ACAFB}" type="pres">
      <dgm:prSet presAssocID="{43BE249A-149E-451E-A936-64AB618292F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BB72721-87A3-45B6-9F7C-352C132AF906}" srcId="{D4C49D50-1AD8-4236-BD33-6323D8FD6126}" destId="{1332BC98-711E-48F4-8DA1-0A797DE114DF}" srcOrd="4" destOrd="0" parTransId="{8F2DA0FB-E163-4048-8080-701A7883E78E}" sibTransId="{DFD6BC4C-808D-40F2-A56B-5FA3C47838CD}"/>
    <dgm:cxn modelId="{C15DBB35-7DDC-4642-BEF7-D90771505C5D}" srcId="{D4C49D50-1AD8-4236-BD33-6323D8FD6126}" destId="{F2937FED-09AE-44AC-AEBB-A0D555A5A802}" srcOrd="1" destOrd="0" parTransId="{E5F57652-13BA-479C-9E90-94FAEA6EF5EE}" sibTransId="{4F18D890-52AB-4B67-8C75-BE69EF7A7D7A}"/>
    <dgm:cxn modelId="{2BB7985F-EF19-4027-8946-C65C24EBF044}" srcId="{D4C49D50-1AD8-4236-BD33-6323D8FD6126}" destId="{BC8A850C-7B0B-4666-8991-A76D0CEE957A}" srcOrd="2" destOrd="0" parTransId="{FBE8BE86-6E97-4D53-A23B-898539CB76E1}" sibTransId="{8024DBB3-18C5-46D5-899D-55DE8E20C9E6}"/>
    <dgm:cxn modelId="{5D1B4863-A117-45A0-A19E-7B667D63A65D}" type="presOf" srcId="{1332BC98-711E-48F4-8DA1-0A797DE114DF}" destId="{0B0420B3-6B84-4FF9-A063-89CD3B71C0DC}" srcOrd="0" destOrd="0" presId="urn:microsoft.com/office/officeart/2005/8/layout/vList2"/>
    <dgm:cxn modelId="{10D35B6C-664C-4B6E-A72B-BC46E35BF246}" type="presOf" srcId="{DFDBBB44-2369-478E-9DF9-99A9904B29E7}" destId="{79EF0C17-9268-4C85-8C4E-23A028EA3D56}" srcOrd="0" destOrd="0" presId="urn:microsoft.com/office/officeart/2005/8/layout/vList2"/>
    <dgm:cxn modelId="{84C2D372-D8D6-4677-AC30-1B3A88FDA421}" type="presOf" srcId="{C1832BEA-CFD8-49DD-AC5E-6BBF4BCF43B1}" destId="{BF4FE3A7-BBF1-488D-A23E-DDD8CF3CE7AB}" srcOrd="0" destOrd="0" presId="urn:microsoft.com/office/officeart/2005/8/layout/vList2"/>
    <dgm:cxn modelId="{97C8B475-0A16-4227-8E18-572155C7D61C}" srcId="{D4C49D50-1AD8-4236-BD33-6323D8FD6126}" destId="{C1832BEA-CFD8-49DD-AC5E-6BBF4BCF43B1}" srcOrd="0" destOrd="0" parTransId="{1D81E40E-936C-4E65-8246-DD6C74B4CDC8}" sibTransId="{7B1D7B60-B2F2-4099-81B4-B45C19922CD7}"/>
    <dgm:cxn modelId="{95063159-DCB0-4512-A449-706C1DA11FA3}" type="presOf" srcId="{F2937FED-09AE-44AC-AEBB-A0D555A5A802}" destId="{824AAA74-D76E-4754-BEA0-80E4EF82D42C}" srcOrd="0" destOrd="0" presId="urn:microsoft.com/office/officeart/2005/8/layout/vList2"/>
    <dgm:cxn modelId="{05258E8C-22B2-481F-8520-98355D27F0A2}" type="presOf" srcId="{D4C49D50-1AD8-4236-BD33-6323D8FD6126}" destId="{C90FDD1D-6E1B-438B-B1D0-DAE61C7ECE57}" srcOrd="0" destOrd="0" presId="urn:microsoft.com/office/officeart/2005/8/layout/vList2"/>
    <dgm:cxn modelId="{07FFA99A-4495-4D13-B907-AD98980CD3A4}" srcId="{D4C49D50-1AD8-4236-BD33-6323D8FD6126}" destId="{DFDBBB44-2369-478E-9DF9-99A9904B29E7}" srcOrd="3" destOrd="0" parTransId="{5D38D533-430D-43BB-9E90-08893049B3B1}" sibTransId="{9F6959D3-3F15-4D76-9364-BCBE5307522C}"/>
    <dgm:cxn modelId="{5740A4A1-C280-44F6-A4EE-4CC29B7EC309}" srcId="{D4C49D50-1AD8-4236-BD33-6323D8FD6126}" destId="{43BE249A-149E-451E-A936-64AB618292F9}" srcOrd="5" destOrd="0" parTransId="{0C1F09DB-9EC0-465F-8A4F-B8F90CC66736}" sibTransId="{99978111-D01E-4DDE-B39A-B66F3B3B00CB}"/>
    <dgm:cxn modelId="{8F3715A2-CB41-45E0-8168-1F236A8BE599}" type="presOf" srcId="{43BE249A-149E-451E-A936-64AB618292F9}" destId="{B814041A-2FAB-4B1A-9FBD-DE655B1ACAFB}" srcOrd="0" destOrd="0" presId="urn:microsoft.com/office/officeart/2005/8/layout/vList2"/>
    <dgm:cxn modelId="{21412FEA-E8E9-4638-AFC1-9A5A2CF97838}" type="presOf" srcId="{BC8A850C-7B0B-4666-8991-A76D0CEE957A}" destId="{1B912629-DF47-44C9-B4D6-AD253F6BBDB8}" srcOrd="0" destOrd="0" presId="urn:microsoft.com/office/officeart/2005/8/layout/vList2"/>
    <dgm:cxn modelId="{C0B26CC0-D669-4070-AE8B-BA1BE6121AB2}" type="presParOf" srcId="{C90FDD1D-6E1B-438B-B1D0-DAE61C7ECE57}" destId="{BF4FE3A7-BBF1-488D-A23E-DDD8CF3CE7AB}" srcOrd="0" destOrd="0" presId="urn:microsoft.com/office/officeart/2005/8/layout/vList2"/>
    <dgm:cxn modelId="{BF5D259F-0FD8-4E36-BBA6-F2AC91C7EC15}" type="presParOf" srcId="{C90FDD1D-6E1B-438B-B1D0-DAE61C7ECE57}" destId="{BD457170-1AA4-48C1-AAFD-0C92100088AA}" srcOrd="1" destOrd="0" presId="urn:microsoft.com/office/officeart/2005/8/layout/vList2"/>
    <dgm:cxn modelId="{79F41ADD-23C6-4273-BAEA-7D1CD2F63220}" type="presParOf" srcId="{C90FDD1D-6E1B-438B-B1D0-DAE61C7ECE57}" destId="{824AAA74-D76E-4754-BEA0-80E4EF82D42C}" srcOrd="2" destOrd="0" presId="urn:microsoft.com/office/officeart/2005/8/layout/vList2"/>
    <dgm:cxn modelId="{0637A0F8-8461-43D6-9F04-08AE57536EB2}" type="presParOf" srcId="{C90FDD1D-6E1B-438B-B1D0-DAE61C7ECE57}" destId="{89A0DAD7-E872-4E5C-B7C9-F953340E4F5A}" srcOrd="3" destOrd="0" presId="urn:microsoft.com/office/officeart/2005/8/layout/vList2"/>
    <dgm:cxn modelId="{70427A47-7644-4D9F-BD76-BA4235D55275}" type="presParOf" srcId="{C90FDD1D-6E1B-438B-B1D0-DAE61C7ECE57}" destId="{1B912629-DF47-44C9-B4D6-AD253F6BBDB8}" srcOrd="4" destOrd="0" presId="urn:microsoft.com/office/officeart/2005/8/layout/vList2"/>
    <dgm:cxn modelId="{7855FAC0-F6FA-4745-A5B4-EACD84923A12}" type="presParOf" srcId="{C90FDD1D-6E1B-438B-B1D0-DAE61C7ECE57}" destId="{EA7E8EAA-06FA-408C-BB92-ED41999C9BEC}" srcOrd="5" destOrd="0" presId="urn:microsoft.com/office/officeart/2005/8/layout/vList2"/>
    <dgm:cxn modelId="{C8189D5A-CDA0-4F2E-8980-B8AA368B4235}" type="presParOf" srcId="{C90FDD1D-6E1B-438B-B1D0-DAE61C7ECE57}" destId="{79EF0C17-9268-4C85-8C4E-23A028EA3D56}" srcOrd="6" destOrd="0" presId="urn:microsoft.com/office/officeart/2005/8/layout/vList2"/>
    <dgm:cxn modelId="{1BE1A976-02EF-4F02-8269-25403894CC48}" type="presParOf" srcId="{C90FDD1D-6E1B-438B-B1D0-DAE61C7ECE57}" destId="{B4A7503E-E2EA-4079-B90F-A0312D28ED70}" srcOrd="7" destOrd="0" presId="urn:microsoft.com/office/officeart/2005/8/layout/vList2"/>
    <dgm:cxn modelId="{BEDEDDF4-C9F8-4862-9955-C825C9972BFD}" type="presParOf" srcId="{C90FDD1D-6E1B-438B-B1D0-DAE61C7ECE57}" destId="{0B0420B3-6B84-4FF9-A063-89CD3B71C0DC}" srcOrd="8" destOrd="0" presId="urn:microsoft.com/office/officeart/2005/8/layout/vList2"/>
    <dgm:cxn modelId="{C98EB1B2-5A4C-453D-BD25-EC695C10279D}" type="presParOf" srcId="{C90FDD1D-6E1B-438B-B1D0-DAE61C7ECE57}" destId="{277C35B6-8E14-47DE-A0DB-6988009E8F96}" srcOrd="9" destOrd="0" presId="urn:microsoft.com/office/officeart/2005/8/layout/vList2"/>
    <dgm:cxn modelId="{8F32B922-385F-4B55-A655-6E449D859419}" type="presParOf" srcId="{C90FDD1D-6E1B-438B-B1D0-DAE61C7ECE57}" destId="{B814041A-2FAB-4B1A-9FBD-DE655B1ACAF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534383-26DD-43BB-9349-17B160431A5E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B019800-AA54-4F48-BF48-5272A54F8234}">
      <dgm:prSet/>
      <dgm:spPr/>
      <dgm:t>
        <a:bodyPr/>
        <a:lstStyle/>
        <a:p>
          <a:r>
            <a:rPr lang="en-US" b="1"/>
            <a:t>Most Customer Projects Fail Here</a:t>
          </a:r>
          <a:endParaRPr lang="en-US"/>
        </a:p>
      </dgm:t>
    </dgm:pt>
    <dgm:pt modelId="{A0F859E4-DF49-4281-BB86-033A72584001}" type="parTrans" cxnId="{71A0D198-1606-4FEF-9921-8940D056D2B2}">
      <dgm:prSet/>
      <dgm:spPr/>
      <dgm:t>
        <a:bodyPr/>
        <a:lstStyle/>
        <a:p>
          <a:endParaRPr lang="en-US"/>
        </a:p>
      </dgm:t>
    </dgm:pt>
    <dgm:pt modelId="{13C4E30B-73D2-4865-804E-2B318796DAE4}" type="sibTrans" cxnId="{71A0D198-1606-4FEF-9921-8940D056D2B2}">
      <dgm:prSet/>
      <dgm:spPr/>
      <dgm:t>
        <a:bodyPr/>
        <a:lstStyle/>
        <a:p>
          <a:endParaRPr lang="en-US"/>
        </a:p>
      </dgm:t>
    </dgm:pt>
    <dgm:pt modelId="{B5FFBA58-629E-426B-8599-7E41CD9C3EDE}">
      <dgm:prSet/>
      <dgm:spPr/>
      <dgm:t>
        <a:bodyPr/>
        <a:lstStyle/>
        <a:p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Works in demo </a:t>
          </a:r>
        </a:p>
      </dgm:t>
    </dgm:pt>
    <dgm:pt modelId="{E4693475-B9F4-4A1C-B690-1101E8F7BB15}" type="parTrans" cxnId="{EA821632-5C2E-4462-8EA5-6EDB967C10BF}">
      <dgm:prSet/>
      <dgm:spPr/>
      <dgm:t>
        <a:bodyPr/>
        <a:lstStyle/>
        <a:p>
          <a:endParaRPr lang="en-US"/>
        </a:p>
      </dgm:t>
    </dgm:pt>
    <dgm:pt modelId="{826917E5-7027-44A0-B9CD-B258C3F4FDA8}" type="sibTrans" cxnId="{EA821632-5C2E-4462-8EA5-6EDB967C10BF}">
      <dgm:prSet/>
      <dgm:spPr/>
      <dgm:t>
        <a:bodyPr/>
        <a:lstStyle/>
        <a:p>
          <a:endParaRPr lang="en-US"/>
        </a:p>
      </dgm:t>
    </dgm:pt>
    <dgm:pt modelId="{960D4047-8B81-41AE-9A3B-8BF08C6E0823}">
      <dgm:prSet/>
      <dgm:spPr/>
      <dgm:t>
        <a:bodyPr/>
        <a:lstStyle/>
        <a:p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Fails in real usage </a:t>
          </a:r>
        </a:p>
      </dgm:t>
    </dgm:pt>
    <dgm:pt modelId="{CB07A958-E74C-4FF5-8DFC-954828E72460}" type="parTrans" cxnId="{663414FA-21D7-4C25-B091-08557AF96C27}">
      <dgm:prSet/>
      <dgm:spPr/>
      <dgm:t>
        <a:bodyPr/>
        <a:lstStyle/>
        <a:p>
          <a:endParaRPr lang="en-US"/>
        </a:p>
      </dgm:t>
    </dgm:pt>
    <dgm:pt modelId="{E7197A7C-021C-4BEF-B47A-6256DCA0EED7}" type="sibTrans" cxnId="{663414FA-21D7-4C25-B091-08557AF96C27}">
      <dgm:prSet/>
      <dgm:spPr/>
      <dgm:t>
        <a:bodyPr/>
        <a:lstStyle/>
        <a:p>
          <a:endParaRPr lang="en-US"/>
        </a:p>
      </dgm:t>
    </dgm:pt>
    <dgm:pt modelId="{622CCA4E-BA00-4650-A2E3-F2C905BAC38E}">
      <dgm:prSet/>
      <dgm:spPr/>
      <dgm:t>
        <a:bodyPr/>
        <a:lstStyle/>
        <a:p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No observability </a:t>
          </a:r>
        </a:p>
      </dgm:t>
    </dgm:pt>
    <dgm:pt modelId="{A7A6EDB3-0FCE-4DEA-B75B-D0932B965E55}" type="parTrans" cxnId="{CF41F2E8-6365-4C22-A129-2DB569C43186}">
      <dgm:prSet/>
      <dgm:spPr/>
      <dgm:t>
        <a:bodyPr/>
        <a:lstStyle/>
        <a:p>
          <a:endParaRPr lang="en-US"/>
        </a:p>
      </dgm:t>
    </dgm:pt>
    <dgm:pt modelId="{5A0E3773-D790-4DDC-85C4-42CCF5A8F9DA}" type="sibTrans" cxnId="{CF41F2E8-6365-4C22-A129-2DB569C43186}">
      <dgm:prSet/>
      <dgm:spPr/>
      <dgm:t>
        <a:bodyPr/>
        <a:lstStyle/>
        <a:p>
          <a:endParaRPr lang="en-US"/>
        </a:p>
      </dgm:t>
    </dgm:pt>
    <dgm:pt modelId="{DC69DD03-6661-4221-9A8D-F6D8460EE529}">
      <dgm:prSet/>
      <dgm:spPr/>
      <dgm:t>
        <a:bodyPr/>
        <a:lstStyle/>
        <a:p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No fallback </a:t>
          </a:r>
        </a:p>
      </dgm:t>
    </dgm:pt>
    <dgm:pt modelId="{FB2EC703-0208-4C91-A700-095B87C29533}" type="parTrans" cxnId="{51E11A5F-1A63-49D9-9D56-28F048474A9C}">
      <dgm:prSet/>
      <dgm:spPr/>
      <dgm:t>
        <a:bodyPr/>
        <a:lstStyle/>
        <a:p>
          <a:endParaRPr lang="en-US"/>
        </a:p>
      </dgm:t>
    </dgm:pt>
    <dgm:pt modelId="{ACE418DE-000E-49F4-91CE-99247C18A0A3}" type="sibTrans" cxnId="{51E11A5F-1A63-49D9-9D56-28F048474A9C}">
      <dgm:prSet/>
      <dgm:spPr/>
      <dgm:t>
        <a:bodyPr/>
        <a:lstStyle/>
        <a:p>
          <a:endParaRPr lang="en-US"/>
        </a:p>
      </dgm:t>
    </dgm:pt>
    <dgm:pt modelId="{35731EFE-6AF0-4D77-98DB-494734377A15}">
      <dgm:prSet/>
      <dgm:spPr/>
      <dgm:t>
        <a:bodyPr/>
        <a:lstStyle/>
        <a:p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No documentation </a:t>
          </a:r>
        </a:p>
      </dgm:t>
    </dgm:pt>
    <dgm:pt modelId="{1AD2AB84-B316-46CF-BD48-74A5A66E9D6F}" type="parTrans" cxnId="{8D20CC66-397E-45EE-90F4-57561A60E54F}">
      <dgm:prSet/>
      <dgm:spPr/>
      <dgm:t>
        <a:bodyPr/>
        <a:lstStyle/>
        <a:p>
          <a:endParaRPr lang="en-US"/>
        </a:p>
      </dgm:t>
    </dgm:pt>
    <dgm:pt modelId="{141E303E-17A1-4033-B847-4E863ADB3C60}" type="sibTrans" cxnId="{8D20CC66-397E-45EE-90F4-57561A60E54F}">
      <dgm:prSet/>
      <dgm:spPr/>
      <dgm:t>
        <a:bodyPr/>
        <a:lstStyle/>
        <a:p>
          <a:endParaRPr lang="en-US"/>
        </a:p>
      </dgm:t>
    </dgm:pt>
    <dgm:pt modelId="{3FF358CF-71C6-43F3-97DC-CBD969692179}">
      <dgm:prSet/>
      <dgm:spPr/>
      <dgm:t>
        <a:bodyPr/>
        <a:lstStyle/>
        <a:p>
          <a:r>
            <a:rPr lang="en-US" b="1"/>
            <a:t>Senior FDEs reduce customer risk.</a:t>
          </a:r>
          <a:endParaRPr lang="en-US"/>
        </a:p>
      </dgm:t>
    </dgm:pt>
    <dgm:pt modelId="{58B107C5-21AD-4101-8A80-DAD0F137C335}" type="parTrans" cxnId="{45C33FA6-A09F-4EA6-92E8-9F716F125001}">
      <dgm:prSet/>
      <dgm:spPr/>
      <dgm:t>
        <a:bodyPr/>
        <a:lstStyle/>
        <a:p>
          <a:endParaRPr lang="en-US"/>
        </a:p>
      </dgm:t>
    </dgm:pt>
    <dgm:pt modelId="{29AF6AD5-502D-4DA2-846D-9A8B866156D0}" type="sibTrans" cxnId="{45C33FA6-A09F-4EA6-92E8-9F716F125001}">
      <dgm:prSet/>
      <dgm:spPr/>
      <dgm:t>
        <a:bodyPr/>
        <a:lstStyle/>
        <a:p>
          <a:endParaRPr lang="en-US"/>
        </a:p>
      </dgm:t>
    </dgm:pt>
    <dgm:pt modelId="{53D847FE-7C15-4FAE-AB2F-97C04CB8C94A}" type="pres">
      <dgm:prSet presAssocID="{82534383-26DD-43BB-9349-17B160431A5E}" presName="vert0" presStyleCnt="0">
        <dgm:presLayoutVars>
          <dgm:dir/>
          <dgm:animOne val="branch"/>
          <dgm:animLvl val="lvl"/>
        </dgm:presLayoutVars>
      </dgm:prSet>
      <dgm:spPr/>
    </dgm:pt>
    <dgm:pt modelId="{4848D62F-37EA-4FF0-BA07-DA9B10E81EA5}" type="pres">
      <dgm:prSet presAssocID="{5B019800-AA54-4F48-BF48-5272A54F8234}" presName="thickLine" presStyleLbl="alignNode1" presStyleIdx="0" presStyleCnt="7"/>
      <dgm:spPr/>
    </dgm:pt>
    <dgm:pt modelId="{5E273186-C61F-4CC4-801F-CAD30C5F7ACD}" type="pres">
      <dgm:prSet presAssocID="{5B019800-AA54-4F48-BF48-5272A54F8234}" presName="horz1" presStyleCnt="0"/>
      <dgm:spPr/>
    </dgm:pt>
    <dgm:pt modelId="{FDED02C2-14F9-421A-832F-B7C43593F645}" type="pres">
      <dgm:prSet presAssocID="{5B019800-AA54-4F48-BF48-5272A54F8234}" presName="tx1" presStyleLbl="revTx" presStyleIdx="0" presStyleCnt="7"/>
      <dgm:spPr/>
    </dgm:pt>
    <dgm:pt modelId="{ABDABAF7-8113-438E-99EF-FD590A9C706B}" type="pres">
      <dgm:prSet presAssocID="{5B019800-AA54-4F48-BF48-5272A54F8234}" presName="vert1" presStyleCnt="0"/>
      <dgm:spPr/>
    </dgm:pt>
    <dgm:pt modelId="{E707AADC-97D0-4955-BA5F-C9693DAD17F2}" type="pres">
      <dgm:prSet presAssocID="{B5FFBA58-629E-426B-8599-7E41CD9C3EDE}" presName="thickLine" presStyleLbl="alignNode1" presStyleIdx="1" presStyleCnt="7"/>
      <dgm:spPr/>
    </dgm:pt>
    <dgm:pt modelId="{C161B9FE-22F0-4424-99CC-2A41022A7639}" type="pres">
      <dgm:prSet presAssocID="{B5FFBA58-629E-426B-8599-7E41CD9C3EDE}" presName="horz1" presStyleCnt="0"/>
      <dgm:spPr/>
    </dgm:pt>
    <dgm:pt modelId="{4B72437D-01F1-493A-893B-F1D85B64B880}" type="pres">
      <dgm:prSet presAssocID="{B5FFBA58-629E-426B-8599-7E41CD9C3EDE}" presName="tx1" presStyleLbl="revTx" presStyleIdx="1" presStyleCnt="7"/>
      <dgm:spPr/>
    </dgm:pt>
    <dgm:pt modelId="{28B0CA61-6E61-48F2-8FB5-E4D34FA2B699}" type="pres">
      <dgm:prSet presAssocID="{B5FFBA58-629E-426B-8599-7E41CD9C3EDE}" presName="vert1" presStyleCnt="0"/>
      <dgm:spPr/>
    </dgm:pt>
    <dgm:pt modelId="{611C188A-D4B2-43E9-BB47-A959A4FAB805}" type="pres">
      <dgm:prSet presAssocID="{960D4047-8B81-41AE-9A3B-8BF08C6E0823}" presName="thickLine" presStyleLbl="alignNode1" presStyleIdx="2" presStyleCnt="7"/>
      <dgm:spPr/>
    </dgm:pt>
    <dgm:pt modelId="{F9464773-F8F1-40A0-811D-535AD0BFCADF}" type="pres">
      <dgm:prSet presAssocID="{960D4047-8B81-41AE-9A3B-8BF08C6E0823}" presName="horz1" presStyleCnt="0"/>
      <dgm:spPr/>
    </dgm:pt>
    <dgm:pt modelId="{3A2BAD06-2E22-4521-A9F7-6E1C7F200703}" type="pres">
      <dgm:prSet presAssocID="{960D4047-8B81-41AE-9A3B-8BF08C6E0823}" presName="tx1" presStyleLbl="revTx" presStyleIdx="2" presStyleCnt="7"/>
      <dgm:spPr/>
    </dgm:pt>
    <dgm:pt modelId="{FA6817FF-1A9C-4F2B-8054-FF2BC523BEF6}" type="pres">
      <dgm:prSet presAssocID="{960D4047-8B81-41AE-9A3B-8BF08C6E0823}" presName="vert1" presStyleCnt="0"/>
      <dgm:spPr/>
    </dgm:pt>
    <dgm:pt modelId="{A471E240-79CD-47AC-9136-2C8F3B7F1B67}" type="pres">
      <dgm:prSet presAssocID="{622CCA4E-BA00-4650-A2E3-F2C905BAC38E}" presName="thickLine" presStyleLbl="alignNode1" presStyleIdx="3" presStyleCnt="7"/>
      <dgm:spPr/>
    </dgm:pt>
    <dgm:pt modelId="{623A36C2-B9B5-43E9-9218-321763239BBE}" type="pres">
      <dgm:prSet presAssocID="{622CCA4E-BA00-4650-A2E3-F2C905BAC38E}" presName="horz1" presStyleCnt="0"/>
      <dgm:spPr/>
    </dgm:pt>
    <dgm:pt modelId="{5ED94D39-2889-46F6-B973-7FA47BCFA85B}" type="pres">
      <dgm:prSet presAssocID="{622CCA4E-BA00-4650-A2E3-F2C905BAC38E}" presName="tx1" presStyleLbl="revTx" presStyleIdx="3" presStyleCnt="7"/>
      <dgm:spPr/>
    </dgm:pt>
    <dgm:pt modelId="{951872B5-080E-449B-8EF0-426725B5BF23}" type="pres">
      <dgm:prSet presAssocID="{622CCA4E-BA00-4650-A2E3-F2C905BAC38E}" presName="vert1" presStyleCnt="0"/>
      <dgm:spPr/>
    </dgm:pt>
    <dgm:pt modelId="{116047CF-FFE9-446F-B781-DFE03D1656F6}" type="pres">
      <dgm:prSet presAssocID="{DC69DD03-6661-4221-9A8D-F6D8460EE529}" presName="thickLine" presStyleLbl="alignNode1" presStyleIdx="4" presStyleCnt="7"/>
      <dgm:spPr/>
    </dgm:pt>
    <dgm:pt modelId="{E8BB06DA-B003-4C7C-918E-33823AFE88FD}" type="pres">
      <dgm:prSet presAssocID="{DC69DD03-6661-4221-9A8D-F6D8460EE529}" presName="horz1" presStyleCnt="0"/>
      <dgm:spPr/>
    </dgm:pt>
    <dgm:pt modelId="{302932E7-8404-4BB8-BA72-16E605512E50}" type="pres">
      <dgm:prSet presAssocID="{DC69DD03-6661-4221-9A8D-F6D8460EE529}" presName="tx1" presStyleLbl="revTx" presStyleIdx="4" presStyleCnt="7"/>
      <dgm:spPr/>
    </dgm:pt>
    <dgm:pt modelId="{8344D462-EEA7-4155-86AA-3C366BFB67E3}" type="pres">
      <dgm:prSet presAssocID="{DC69DD03-6661-4221-9A8D-F6D8460EE529}" presName="vert1" presStyleCnt="0"/>
      <dgm:spPr/>
    </dgm:pt>
    <dgm:pt modelId="{2C8AC008-0B95-45B1-AD13-5CCA4E05F1AA}" type="pres">
      <dgm:prSet presAssocID="{35731EFE-6AF0-4D77-98DB-494734377A15}" presName="thickLine" presStyleLbl="alignNode1" presStyleIdx="5" presStyleCnt="7"/>
      <dgm:spPr/>
    </dgm:pt>
    <dgm:pt modelId="{476B1E3A-94D7-40D8-9812-61052035CD01}" type="pres">
      <dgm:prSet presAssocID="{35731EFE-6AF0-4D77-98DB-494734377A15}" presName="horz1" presStyleCnt="0"/>
      <dgm:spPr/>
    </dgm:pt>
    <dgm:pt modelId="{691B8103-7BF4-4AD8-8273-D70CA734EAD2}" type="pres">
      <dgm:prSet presAssocID="{35731EFE-6AF0-4D77-98DB-494734377A15}" presName="tx1" presStyleLbl="revTx" presStyleIdx="5" presStyleCnt="7"/>
      <dgm:spPr/>
    </dgm:pt>
    <dgm:pt modelId="{8D2B30CA-573E-4398-99ED-34115D95AED1}" type="pres">
      <dgm:prSet presAssocID="{35731EFE-6AF0-4D77-98DB-494734377A15}" presName="vert1" presStyleCnt="0"/>
      <dgm:spPr/>
    </dgm:pt>
    <dgm:pt modelId="{E819B513-299B-4A9A-A8F2-4B81B01C0141}" type="pres">
      <dgm:prSet presAssocID="{3FF358CF-71C6-43F3-97DC-CBD969692179}" presName="thickLine" presStyleLbl="alignNode1" presStyleIdx="6" presStyleCnt="7"/>
      <dgm:spPr/>
    </dgm:pt>
    <dgm:pt modelId="{837078ED-7588-4A80-A31C-50F1B046F542}" type="pres">
      <dgm:prSet presAssocID="{3FF358CF-71C6-43F3-97DC-CBD969692179}" presName="horz1" presStyleCnt="0"/>
      <dgm:spPr/>
    </dgm:pt>
    <dgm:pt modelId="{8E020633-BC46-46B3-B4BE-08C976D46F61}" type="pres">
      <dgm:prSet presAssocID="{3FF358CF-71C6-43F3-97DC-CBD969692179}" presName="tx1" presStyleLbl="revTx" presStyleIdx="6" presStyleCnt="7"/>
      <dgm:spPr/>
    </dgm:pt>
    <dgm:pt modelId="{FE2396B3-4679-4868-98D8-03AC53521CAB}" type="pres">
      <dgm:prSet presAssocID="{3FF358CF-71C6-43F3-97DC-CBD969692179}" presName="vert1" presStyleCnt="0"/>
      <dgm:spPr/>
    </dgm:pt>
  </dgm:ptLst>
  <dgm:cxnLst>
    <dgm:cxn modelId="{08755703-B496-49EE-B04F-D4266FDE4F15}" type="presOf" srcId="{82534383-26DD-43BB-9349-17B160431A5E}" destId="{53D847FE-7C15-4FAE-AB2F-97C04CB8C94A}" srcOrd="0" destOrd="0" presId="urn:microsoft.com/office/officeart/2008/layout/LinedList"/>
    <dgm:cxn modelId="{EA821632-5C2E-4462-8EA5-6EDB967C10BF}" srcId="{82534383-26DD-43BB-9349-17B160431A5E}" destId="{B5FFBA58-629E-426B-8599-7E41CD9C3EDE}" srcOrd="1" destOrd="0" parTransId="{E4693475-B9F4-4A1C-B690-1101E8F7BB15}" sibTransId="{826917E5-7027-44A0-B9CD-B258C3F4FDA8}"/>
    <dgm:cxn modelId="{51E11A5F-1A63-49D9-9D56-28F048474A9C}" srcId="{82534383-26DD-43BB-9349-17B160431A5E}" destId="{DC69DD03-6661-4221-9A8D-F6D8460EE529}" srcOrd="4" destOrd="0" parTransId="{FB2EC703-0208-4C91-A700-095B87C29533}" sibTransId="{ACE418DE-000E-49F4-91CE-99247C18A0A3}"/>
    <dgm:cxn modelId="{E478C545-9341-4D74-B186-955A0533387F}" type="presOf" srcId="{DC69DD03-6661-4221-9A8D-F6D8460EE529}" destId="{302932E7-8404-4BB8-BA72-16E605512E50}" srcOrd="0" destOrd="0" presId="urn:microsoft.com/office/officeart/2008/layout/LinedList"/>
    <dgm:cxn modelId="{8D20CC66-397E-45EE-90F4-57561A60E54F}" srcId="{82534383-26DD-43BB-9349-17B160431A5E}" destId="{35731EFE-6AF0-4D77-98DB-494734377A15}" srcOrd="5" destOrd="0" parTransId="{1AD2AB84-B316-46CF-BD48-74A5A66E9D6F}" sibTransId="{141E303E-17A1-4033-B847-4E863ADB3C60}"/>
    <dgm:cxn modelId="{D41B5158-8BD1-4C40-A6CD-6D542AC00BB5}" type="presOf" srcId="{35731EFE-6AF0-4D77-98DB-494734377A15}" destId="{691B8103-7BF4-4AD8-8273-D70CA734EAD2}" srcOrd="0" destOrd="0" presId="urn:microsoft.com/office/officeart/2008/layout/LinedList"/>
    <dgm:cxn modelId="{CAE26059-B874-470F-935D-D7ED562EAEED}" type="presOf" srcId="{5B019800-AA54-4F48-BF48-5272A54F8234}" destId="{FDED02C2-14F9-421A-832F-B7C43593F645}" srcOrd="0" destOrd="0" presId="urn:microsoft.com/office/officeart/2008/layout/LinedList"/>
    <dgm:cxn modelId="{9F63F45A-1164-4065-ACE8-0F6B2814108A}" type="presOf" srcId="{3FF358CF-71C6-43F3-97DC-CBD969692179}" destId="{8E020633-BC46-46B3-B4BE-08C976D46F61}" srcOrd="0" destOrd="0" presId="urn:microsoft.com/office/officeart/2008/layout/LinedList"/>
    <dgm:cxn modelId="{71A0D198-1606-4FEF-9921-8940D056D2B2}" srcId="{82534383-26DD-43BB-9349-17B160431A5E}" destId="{5B019800-AA54-4F48-BF48-5272A54F8234}" srcOrd="0" destOrd="0" parTransId="{A0F859E4-DF49-4281-BB86-033A72584001}" sibTransId="{13C4E30B-73D2-4865-804E-2B318796DAE4}"/>
    <dgm:cxn modelId="{45C33FA6-A09F-4EA6-92E8-9F716F125001}" srcId="{82534383-26DD-43BB-9349-17B160431A5E}" destId="{3FF358CF-71C6-43F3-97DC-CBD969692179}" srcOrd="6" destOrd="0" parTransId="{58B107C5-21AD-4101-8A80-DAD0F137C335}" sibTransId="{29AF6AD5-502D-4DA2-846D-9A8B866156D0}"/>
    <dgm:cxn modelId="{F536D7AA-59F5-41B8-A374-76EE76C87570}" type="presOf" srcId="{960D4047-8B81-41AE-9A3B-8BF08C6E0823}" destId="{3A2BAD06-2E22-4521-A9F7-6E1C7F200703}" srcOrd="0" destOrd="0" presId="urn:microsoft.com/office/officeart/2008/layout/LinedList"/>
    <dgm:cxn modelId="{960FB9D7-F4A8-4C9B-8192-AFF4B43E31F4}" type="presOf" srcId="{622CCA4E-BA00-4650-A2E3-F2C905BAC38E}" destId="{5ED94D39-2889-46F6-B973-7FA47BCFA85B}" srcOrd="0" destOrd="0" presId="urn:microsoft.com/office/officeart/2008/layout/LinedList"/>
    <dgm:cxn modelId="{0AE2D4DB-A354-4B26-B5E0-8E4F3A3D377E}" type="presOf" srcId="{B5FFBA58-629E-426B-8599-7E41CD9C3EDE}" destId="{4B72437D-01F1-493A-893B-F1D85B64B880}" srcOrd="0" destOrd="0" presId="urn:microsoft.com/office/officeart/2008/layout/LinedList"/>
    <dgm:cxn modelId="{CF41F2E8-6365-4C22-A129-2DB569C43186}" srcId="{82534383-26DD-43BB-9349-17B160431A5E}" destId="{622CCA4E-BA00-4650-A2E3-F2C905BAC38E}" srcOrd="3" destOrd="0" parTransId="{A7A6EDB3-0FCE-4DEA-B75B-D0932B965E55}" sibTransId="{5A0E3773-D790-4DDC-85C4-42CCF5A8F9DA}"/>
    <dgm:cxn modelId="{663414FA-21D7-4C25-B091-08557AF96C27}" srcId="{82534383-26DD-43BB-9349-17B160431A5E}" destId="{960D4047-8B81-41AE-9A3B-8BF08C6E0823}" srcOrd="2" destOrd="0" parTransId="{CB07A958-E74C-4FF5-8DFC-954828E72460}" sibTransId="{E7197A7C-021C-4BEF-B47A-6256DCA0EED7}"/>
    <dgm:cxn modelId="{23CA23D9-76AC-407F-B2BF-EDCE42CA0A76}" type="presParOf" srcId="{53D847FE-7C15-4FAE-AB2F-97C04CB8C94A}" destId="{4848D62F-37EA-4FF0-BA07-DA9B10E81EA5}" srcOrd="0" destOrd="0" presId="urn:microsoft.com/office/officeart/2008/layout/LinedList"/>
    <dgm:cxn modelId="{222307BC-9DC4-4EF4-AE15-303CD29EAF39}" type="presParOf" srcId="{53D847FE-7C15-4FAE-AB2F-97C04CB8C94A}" destId="{5E273186-C61F-4CC4-801F-CAD30C5F7ACD}" srcOrd="1" destOrd="0" presId="urn:microsoft.com/office/officeart/2008/layout/LinedList"/>
    <dgm:cxn modelId="{59779E82-A61A-4A66-A6AA-DB7C812B7953}" type="presParOf" srcId="{5E273186-C61F-4CC4-801F-CAD30C5F7ACD}" destId="{FDED02C2-14F9-421A-832F-B7C43593F645}" srcOrd="0" destOrd="0" presId="urn:microsoft.com/office/officeart/2008/layout/LinedList"/>
    <dgm:cxn modelId="{BEBE0F29-6737-493B-871F-F05A5695064B}" type="presParOf" srcId="{5E273186-C61F-4CC4-801F-CAD30C5F7ACD}" destId="{ABDABAF7-8113-438E-99EF-FD590A9C706B}" srcOrd="1" destOrd="0" presId="urn:microsoft.com/office/officeart/2008/layout/LinedList"/>
    <dgm:cxn modelId="{711996DB-3DA6-4584-BC3D-8F811FA1ECE8}" type="presParOf" srcId="{53D847FE-7C15-4FAE-AB2F-97C04CB8C94A}" destId="{E707AADC-97D0-4955-BA5F-C9693DAD17F2}" srcOrd="2" destOrd="0" presId="urn:microsoft.com/office/officeart/2008/layout/LinedList"/>
    <dgm:cxn modelId="{361CBEB1-DEDB-45FB-B2C3-B15C1279C3EB}" type="presParOf" srcId="{53D847FE-7C15-4FAE-AB2F-97C04CB8C94A}" destId="{C161B9FE-22F0-4424-99CC-2A41022A7639}" srcOrd="3" destOrd="0" presId="urn:microsoft.com/office/officeart/2008/layout/LinedList"/>
    <dgm:cxn modelId="{C6B58815-273C-47F7-A74C-1B225B0F9DC8}" type="presParOf" srcId="{C161B9FE-22F0-4424-99CC-2A41022A7639}" destId="{4B72437D-01F1-493A-893B-F1D85B64B880}" srcOrd="0" destOrd="0" presId="urn:microsoft.com/office/officeart/2008/layout/LinedList"/>
    <dgm:cxn modelId="{B5F08835-EBFE-4F7D-AAA2-1E53AB982D69}" type="presParOf" srcId="{C161B9FE-22F0-4424-99CC-2A41022A7639}" destId="{28B0CA61-6E61-48F2-8FB5-E4D34FA2B699}" srcOrd="1" destOrd="0" presId="urn:microsoft.com/office/officeart/2008/layout/LinedList"/>
    <dgm:cxn modelId="{F097A1BB-F0C8-4D0F-9816-704FA7ED0623}" type="presParOf" srcId="{53D847FE-7C15-4FAE-AB2F-97C04CB8C94A}" destId="{611C188A-D4B2-43E9-BB47-A959A4FAB805}" srcOrd="4" destOrd="0" presId="urn:microsoft.com/office/officeart/2008/layout/LinedList"/>
    <dgm:cxn modelId="{59493AE1-0A6A-4279-8317-23F2F9EA013C}" type="presParOf" srcId="{53D847FE-7C15-4FAE-AB2F-97C04CB8C94A}" destId="{F9464773-F8F1-40A0-811D-535AD0BFCADF}" srcOrd="5" destOrd="0" presId="urn:microsoft.com/office/officeart/2008/layout/LinedList"/>
    <dgm:cxn modelId="{05B3EA63-145C-4686-861E-0838F76A7884}" type="presParOf" srcId="{F9464773-F8F1-40A0-811D-535AD0BFCADF}" destId="{3A2BAD06-2E22-4521-A9F7-6E1C7F200703}" srcOrd="0" destOrd="0" presId="urn:microsoft.com/office/officeart/2008/layout/LinedList"/>
    <dgm:cxn modelId="{41282BAD-70F4-48EA-A624-717478CEFAC3}" type="presParOf" srcId="{F9464773-F8F1-40A0-811D-535AD0BFCADF}" destId="{FA6817FF-1A9C-4F2B-8054-FF2BC523BEF6}" srcOrd="1" destOrd="0" presId="urn:microsoft.com/office/officeart/2008/layout/LinedList"/>
    <dgm:cxn modelId="{175601EF-6D8E-4F8C-A5FA-C8E8313B41D5}" type="presParOf" srcId="{53D847FE-7C15-4FAE-AB2F-97C04CB8C94A}" destId="{A471E240-79CD-47AC-9136-2C8F3B7F1B67}" srcOrd="6" destOrd="0" presId="urn:microsoft.com/office/officeart/2008/layout/LinedList"/>
    <dgm:cxn modelId="{F4F4D4ED-BBE9-422F-B846-6C9E05BEB931}" type="presParOf" srcId="{53D847FE-7C15-4FAE-AB2F-97C04CB8C94A}" destId="{623A36C2-B9B5-43E9-9218-321763239BBE}" srcOrd="7" destOrd="0" presId="urn:microsoft.com/office/officeart/2008/layout/LinedList"/>
    <dgm:cxn modelId="{52D3D543-9C6D-4D46-A2B8-8FDD3EB8E818}" type="presParOf" srcId="{623A36C2-B9B5-43E9-9218-321763239BBE}" destId="{5ED94D39-2889-46F6-B973-7FA47BCFA85B}" srcOrd="0" destOrd="0" presId="urn:microsoft.com/office/officeart/2008/layout/LinedList"/>
    <dgm:cxn modelId="{58F17B74-65D0-46BB-9537-962EA23EFB64}" type="presParOf" srcId="{623A36C2-B9B5-43E9-9218-321763239BBE}" destId="{951872B5-080E-449B-8EF0-426725B5BF23}" srcOrd="1" destOrd="0" presId="urn:microsoft.com/office/officeart/2008/layout/LinedList"/>
    <dgm:cxn modelId="{E5638913-4A64-4966-827F-6CF8AABC2C09}" type="presParOf" srcId="{53D847FE-7C15-4FAE-AB2F-97C04CB8C94A}" destId="{116047CF-FFE9-446F-B781-DFE03D1656F6}" srcOrd="8" destOrd="0" presId="urn:microsoft.com/office/officeart/2008/layout/LinedList"/>
    <dgm:cxn modelId="{60D7D73E-6010-4073-A7CB-08157C319B9F}" type="presParOf" srcId="{53D847FE-7C15-4FAE-AB2F-97C04CB8C94A}" destId="{E8BB06DA-B003-4C7C-918E-33823AFE88FD}" srcOrd="9" destOrd="0" presId="urn:microsoft.com/office/officeart/2008/layout/LinedList"/>
    <dgm:cxn modelId="{78B5F69D-9BEF-4027-BC25-E2689EDCC9F5}" type="presParOf" srcId="{E8BB06DA-B003-4C7C-918E-33823AFE88FD}" destId="{302932E7-8404-4BB8-BA72-16E605512E50}" srcOrd="0" destOrd="0" presId="urn:microsoft.com/office/officeart/2008/layout/LinedList"/>
    <dgm:cxn modelId="{06E74BA6-1802-4B6B-A38A-96E08A1A2E65}" type="presParOf" srcId="{E8BB06DA-B003-4C7C-918E-33823AFE88FD}" destId="{8344D462-EEA7-4155-86AA-3C366BFB67E3}" srcOrd="1" destOrd="0" presId="urn:microsoft.com/office/officeart/2008/layout/LinedList"/>
    <dgm:cxn modelId="{9B7BD791-B174-423E-A41B-638BF34E95A4}" type="presParOf" srcId="{53D847FE-7C15-4FAE-AB2F-97C04CB8C94A}" destId="{2C8AC008-0B95-45B1-AD13-5CCA4E05F1AA}" srcOrd="10" destOrd="0" presId="urn:microsoft.com/office/officeart/2008/layout/LinedList"/>
    <dgm:cxn modelId="{915D1230-E343-4442-B524-F377E846AF3E}" type="presParOf" srcId="{53D847FE-7C15-4FAE-AB2F-97C04CB8C94A}" destId="{476B1E3A-94D7-40D8-9812-61052035CD01}" srcOrd="11" destOrd="0" presId="urn:microsoft.com/office/officeart/2008/layout/LinedList"/>
    <dgm:cxn modelId="{2D3FF9DC-3A83-475D-BD67-60638BAA6E6B}" type="presParOf" srcId="{476B1E3A-94D7-40D8-9812-61052035CD01}" destId="{691B8103-7BF4-4AD8-8273-D70CA734EAD2}" srcOrd="0" destOrd="0" presId="urn:microsoft.com/office/officeart/2008/layout/LinedList"/>
    <dgm:cxn modelId="{CC0B7B98-F1FC-4D05-B59C-B2F56B3DC2F9}" type="presParOf" srcId="{476B1E3A-94D7-40D8-9812-61052035CD01}" destId="{8D2B30CA-573E-4398-99ED-34115D95AED1}" srcOrd="1" destOrd="0" presId="urn:microsoft.com/office/officeart/2008/layout/LinedList"/>
    <dgm:cxn modelId="{B3F6CAB9-7109-44E1-99E2-B00147A0244E}" type="presParOf" srcId="{53D847FE-7C15-4FAE-AB2F-97C04CB8C94A}" destId="{E819B513-299B-4A9A-A8F2-4B81B01C0141}" srcOrd="12" destOrd="0" presId="urn:microsoft.com/office/officeart/2008/layout/LinedList"/>
    <dgm:cxn modelId="{83CB4E19-D2A6-47E1-B053-EB6855F0D8FC}" type="presParOf" srcId="{53D847FE-7C15-4FAE-AB2F-97C04CB8C94A}" destId="{837078ED-7588-4A80-A31C-50F1B046F542}" srcOrd="13" destOrd="0" presId="urn:microsoft.com/office/officeart/2008/layout/LinedList"/>
    <dgm:cxn modelId="{AC674B11-EDFE-42D4-861F-A89FAA34654F}" type="presParOf" srcId="{837078ED-7588-4A80-A31C-50F1B046F542}" destId="{8E020633-BC46-46B3-B4BE-08C976D46F61}" srcOrd="0" destOrd="0" presId="urn:microsoft.com/office/officeart/2008/layout/LinedList"/>
    <dgm:cxn modelId="{AA46F85B-D454-4B72-B43B-3E0ED4549958}" type="presParOf" srcId="{837078ED-7588-4A80-A31C-50F1B046F542}" destId="{FE2396B3-4679-4868-98D8-03AC53521C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FE3A7-BBF1-488D-A23E-DDD8CF3CE7AB}">
      <dsp:nvSpPr>
        <dsp:cNvPr id="0" name=""/>
        <dsp:cNvSpPr/>
      </dsp:nvSpPr>
      <dsp:spPr>
        <a:xfrm>
          <a:off x="0" y="69619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Forward Deployed Engineer = Engineer + Consultant + Owner</a:t>
          </a:r>
          <a:endParaRPr lang="en-US" sz="2100" kern="1200"/>
        </a:p>
      </dsp:txBody>
      <dsp:txXfrm>
        <a:off x="40780" y="110399"/>
        <a:ext cx="6585273" cy="753819"/>
      </dsp:txXfrm>
    </dsp:sp>
    <dsp:sp modelId="{824AAA74-D76E-4754-BEA0-80E4EF82D42C}">
      <dsp:nvSpPr>
        <dsp:cNvPr id="0" name=""/>
        <dsp:cNvSpPr/>
      </dsp:nvSpPr>
      <dsp:spPr>
        <a:xfrm>
          <a:off x="0" y="965479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An FDE is judged on:</a:t>
          </a:r>
          <a:endParaRPr lang="en-US" sz="2100" kern="1200"/>
        </a:p>
      </dsp:txBody>
      <dsp:txXfrm>
        <a:off x="40780" y="1006259"/>
        <a:ext cx="6585273" cy="753819"/>
      </dsp:txXfrm>
    </dsp:sp>
    <dsp:sp modelId="{1B912629-DF47-44C9-B4D6-AD253F6BBDB8}">
      <dsp:nvSpPr>
        <dsp:cNvPr id="0" name=""/>
        <dsp:cNvSpPr/>
      </dsp:nvSpPr>
      <dsp:spPr>
        <a:xfrm>
          <a:off x="0" y="1861339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ym typeface="Wingdings" panose="05000000000000000000" pitchFamily="2" charset="2"/>
            </a:rPr>
            <a:t></a:t>
          </a:r>
          <a:r>
            <a:rPr lang="en-US" sz="2100" kern="1200"/>
            <a:t> Can the customer </a:t>
          </a:r>
          <a:r>
            <a:rPr lang="en-US" sz="2100" b="1" kern="1200"/>
            <a:t>run this without you?</a:t>
          </a:r>
          <a:endParaRPr lang="en-US" sz="2100" kern="1200"/>
        </a:p>
      </dsp:txBody>
      <dsp:txXfrm>
        <a:off x="40780" y="1902119"/>
        <a:ext cx="6585273" cy="753819"/>
      </dsp:txXfrm>
    </dsp:sp>
    <dsp:sp modelId="{79EF0C17-9268-4C85-8C4E-23A028EA3D56}">
      <dsp:nvSpPr>
        <dsp:cNvPr id="0" name=""/>
        <dsp:cNvSpPr/>
      </dsp:nvSpPr>
      <dsp:spPr>
        <a:xfrm>
          <a:off x="0" y="2757200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ym typeface="Wingdings" panose="05000000000000000000" pitchFamily="2" charset="2"/>
            </a:rPr>
            <a:t></a:t>
          </a:r>
          <a:r>
            <a:rPr lang="en-US" sz="2100" kern="1200"/>
            <a:t> Does it </a:t>
          </a:r>
          <a:r>
            <a:rPr lang="en-US" sz="2100" b="1" kern="1200"/>
            <a:t>break under real usage?</a:t>
          </a:r>
          <a:endParaRPr lang="en-US" sz="2100" kern="1200"/>
        </a:p>
      </dsp:txBody>
      <dsp:txXfrm>
        <a:off x="40780" y="2797980"/>
        <a:ext cx="6585273" cy="753819"/>
      </dsp:txXfrm>
    </dsp:sp>
    <dsp:sp modelId="{0B0420B3-6B84-4FF9-A063-89CD3B71C0DC}">
      <dsp:nvSpPr>
        <dsp:cNvPr id="0" name=""/>
        <dsp:cNvSpPr/>
      </dsp:nvSpPr>
      <dsp:spPr>
        <a:xfrm>
          <a:off x="0" y="3653060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ym typeface="Wingdings" panose="05000000000000000000" pitchFamily="2" charset="2"/>
            </a:rPr>
            <a:t></a:t>
          </a:r>
          <a:r>
            <a:rPr lang="en-US" sz="2100" kern="1200"/>
            <a:t> Can it </a:t>
          </a:r>
          <a:r>
            <a:rPr lang="en-US" sz="2100" b="1" kern="1200"/>
            <a:t>scale beyond the POC?</a:t>
          </a:r>
          <a:endParaRPr lang="en-US" sz="2100" kern="1200"/>
        </a:p>
      </dsp:txBody>
      <dsp:txXfrm>
        <a:off x="40780" y="3693840"/>
        <a:ext cx="6585273" cy="753819"/>
      </dsp:txXfrm>
    </dsp:sp>
    <dsp:sp modelId="{B814041A-2FAB-4B1A-9FBD-DE655B1ACAFB}">
      <dsp:nvSpPr>
        <dsp:cNvPr id="0" name=""/>
        <dsp:cNvSpPr/>
      </dsp:nvSpPr>
      <dsp:spPr>
        <a:xfrm>
          <a:off x="0" y="4548920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If the customer depends on you to explain or fix it, it’s not Senior+.</a:t>
          </a:r>
          <a:endParaRPr lang="en-US" sz="2100" kern="1200"/>
        </a:p>
      </dsp:txBody>
      <dsp:txXfrm>
        <a:off x="40780" y="4589700"/>
        <a:ext cx="6585273" cy="7538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48D62F-37EA-4FF0-BA07-DA9B10E81EA5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ED02C2-14F9-421A-832F-B7C43593F645}">
      <dsp:nvSpPr>
        <dsp:cNvPr id="0" name=""/>
        <dsp:cNvSpPr/>
      </dsp:nvSpPr>
      <dsp:spPr>
        <a:xfrm>
          <a:off x="0" y="665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Most Customer Projects Fail Here</a:t>
          </a:r>
          <a:endParaRPr lang="en-US" sz="3200" kern="1200"/>
        </a:p>
      </dsp:txBody>
      <dsp:txXfrm>
        <a:off x="0" y="665"/>
        <a:ext cx="6666833" cy="778941"/>
      </dsp:txXfrm>
    </dsp:sp>
    <dsp:sp modelId="{E707AADC-97D0-4955-BA5F-C9693DAD17F2}">
      <dsp:nvSpPr>
        <dsp:cNvPr id="0" name=""/>
        <dsp:cNvSpPr/>
      </dsp:nvSpPr>
      <dsp:spPr>
        <a:xfrm>
          <a:off x="0" y="779606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72437D-01F1-493A-893B-F1D85B64B880}">
      <dsp:nvSpPr>
        <dsp:cNvPr id="0" name=""/>
        <dsp:cNvSpPr/>
      </dsp:nvSpPr>
      <dsp:spPr>
        <a:xfrm>
          <a:off x="0" y="779606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ym typeface="Wingdings" panose="05000000000000000000" pitchFamily="2" charset="2"/>
            </a:rPr>
            <a:t></a:t>
          </a:r>
          <a:r>
            <a:rPr lang="en-US" sz="3200" kern="1200"/>
            <a:t> Works in demo </a:t>
          </a:r>
        </a:p>
      </dsp:txBody>
      <dsp:txXfrm>
        <a:off x="0" y="779606"/>
        <a:ext cx="6666833" cy="778941"/>
      </dsp:txXfrm>
    </dsp:sp>
    <dsp:sp modelId="{611C188A-D4B2-43E9-BB47-A959A4FAB805}">
      <dsp:nvSpPr>
        <dsp:cNvPr id="0" name=""/>
        <dsp:cNvSpPr/>
      </dsp:nvSpPr>
      <dsp:spPr>
        <a:xfrm>
          <a:off x="0" y="1558548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2BAD06-2E22-4521-A9F7-6E1C7F200703}">
      <dsp:nvSpPr>
        <dsp:cNvPr id="0" name=""/>
        <dsp:cNvSpPr/>
      </dsp:nvSpPr>
      <dsp:spPr>
        <a:xfrm>
          <a:off x="0" y="1558548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ym typeface="Wingdings" panose="05000000000000000000" pitchFamily="2" charset="2"/>
            </a:rPr>
            <a:t></a:t>
          </a:r>
          <a:r>
            <a:rPr lang="en-US" sz="3200" kern="1200"/>
            <a:t> Fails in real usage </a:t>
          </a:r>
        </a:p>
      </dsp:txBody>
      <dsp:txXfrm>
        <a:off x="0" y="1558548"/>
        <a:ext cx="6666833" cy="778941"/>
      </dsp:txXfrm>
    </dsp:sp>
    <dsp:sp modelId="{A471E240-79CD-47AC-9136-2C8F3B7F1B67}">
      <dsp:nvSpPr>
        <dsp:cNvPr id="0" name=""/>
        <dsp:cNvSpPr/>
      </dsp:nvSpPr>
      <dsp:spPr>
        <a:xfrm>
          <a:off x="0" y="2337489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D94D39-2889-46F6-B973-7FA47BCFA85B}">
      <dsp:nvSpPr>
        <dsp:cNvPr id="0" name=""/>
        <dsp:cNvSpPr/>
      </dsp:nvSpPr>
      <dsp:spPr>
        <a:xfrm>
          <a:off x="0" y="2337489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ym typeface="Wingdings" panose="05000000000000000000" pitchFamily="2" charset="2"/>
            </a:rPr>
            <a:t></a:t>
          </a:r>
          <a:r>
            <a:rPr lang="en-US" sz="3200" kern="1200"/>
            <a:t> No observability </a:t>
          </a:r>
        </a:p>
      </dsp:txBody>
      <dsp:txXfrm>
        <a:off x="0" y="2337489"/>
        <a:ext cx="6666833" cy="778941"/>
      </dsp:txXfrm>
    </dsp:sp>
    <dsp:sp modelId="{116047CF-FFE9-446F-B781-DFE03D1656F6}">
      <dsp:nvSpPr>
        <dsp:cNvPr id="0" name=""/>
        <dsp:cNvSpPr/>
      </dsp:nvSpPr>
      <dsp:spPr>
        <a:xfrm>
          <a:off x="0" y="3116430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2932E7-8404-4BB8-BA72-16E605512E50}">
      <dsp:nvSpPr>
        <dsp:cNvPr id="0" name=""/>
        <dsp:cNvSpPr/>
      </dsp:nvSpPr>
      <dsp:spPr>
        <a:xfrm>
          <a:off x="0" y="3116430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ym typeface="Wingdings" panose="05000000000000000000" pitchFamily="2" charset="2"/>
            </a:rPr>
            <a:t></a:t>
          </a:r>
          <a:r>
            <a:rPr lang="en-US" sz="3200" kern="1200"/>
            <a:t> No fallback </a:t>
          </a:r>
        </a:p>
      </dsp:txBody>
      <dsp:txXfrm>
        <a:off x="0" y="3116430"/>
        <a:ext cx="6666833" cy="778941"/>
      </dsp:txXfrm>
    </dsp:sp>
    <dsp:sp modelId="{2C8AC008-0B95-45B1-AD13-5CCA4E05F1AA}">
      <dsp:nvSpPr>
        <dsp:cNvPr id="0" name=""/>
        <dsp:cNvSpPr/>
      </dsp:nvSpPr>
      <dsp:spPr>
        <a:xfrm>
          <a:off x="0" y="389537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1B8103-7BF4-4AD8-8273-D70CA734EAD2}">
      <dsp:nvSpPr>
        <dsp:cNvPr id="0" name=""/>
        <dsp:cNvSpPr/>
      </dsp:nvSpPr>
      <dsp:spPr>
        <a:xfrm>
          <a:off x="0" y="3895371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ym typeface="Wingdings" panose="05000000000000000000" pitchFamily="2" charset="2"/>
            </a:rPr>
            <a:t></a:t>
          </a:r>
          <a:r>
            <a:rPr lang="en-US" sz="3200" kern="1200"/>
            <a:t> No documentation </a:t>
          </a:r>
        </a:p>
      </dsp:txBody>
      <dsp:txXfrm>
        <a:off x="0" y="3895371"/>
        <a:ext cx="6666833" cy="778941"/>
      </dsp:txXfrm>
    </dsp:sp>
    <dsp:sp modelId="{E819B513-299B-4A9A-A8F2-4B81B01C0141}">
      <dsp:nvSpPr>
        <dsp:cNvPr id="0" name=""/>
        <dsp:cNvSpPr/>
      </dsp:nvSpPr>
      <dsp:spPr>
        <a:xfrm>
          <a:off x="0" y="4674313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020633-BC46-46B3-B4BE-08C976D46F61}">
      <dsp:nvSpPr>
        <dsp:cNvPr id="0" name=""/>
        <dsp:cNvSpPr/>
      </dsp:nvSpPr>
      <dsp:spPr>
        <a:xfrm>
          <a:off x="0" y="4674313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Senior FDEs reduce customer risk.</a:t>
          </a:r>
          <a:endParaRPr lang="en-US" sz="3200" kern="1200"/>
        </a:p>
      </dsp:txBody>
      <dsp:txXfrm>
        <a:off x="0" y="4674313"/>
        <a:ext cx="6666833" cy="778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4A1D-705E-A65B-9413-1D84C8B9F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D5FB7-4F19-A5B0-E460-12311162B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7E4FC-C1A1-52D0-8619-B49D488FA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3B37-43CA-4784-AB37-057F230B6A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EFB91-0619-BF8D-F410-2AE1D962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CDAC0-A4A2-8594-5D6C-544E1E1FB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1868-8F8F-4901-B5B3-BC81709C3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77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0F1B-85D6-D50F-5BCF-1084012F1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B2E6-7649-0A52-E1FA-23C0940C3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F1DA2-7440-E800-62FA-AD6B48BC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3B37-43CA-4784-AB37-057F230B6A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14CA8-6F9B-4AAE-FC2D-5B935A1A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64A86-3252-BCAC-9E0E-1EDFB1B79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1868-8F8F-4901-B5B3-BC81709C3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13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58A1-DC7D-931A-BB38-4589086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947E7-72FC-5A95-E81E-46C60520B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08F56-9E63-B51E-8738-3392ED8FF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3B37-43CA-4784-AB37-057F230B6A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D9E0-ABD4-BD9D-092D-19F4E58B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58946-EF58-BF65-448E-9C26EF156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1868-8F8F-4901-B5B3-BC81709C3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655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F5E2-D1CC-75CE-27EE-6E04065BC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67AA-33FC-6F28-28A3-3BB7D3941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A03D8-4EBD-8448-B57B-0A886BBF1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1DBF6-2401-FC14-E0FB-D72B308C1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3B37-43CA-4784-AB37-057F230B6A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8364C-D018-34D4-DADB-2BC37482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52DA0-08CF-55F0-4F20-B3627653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1868-8F8F-4901-B5B3-BC81709C3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326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5D2C-9157-0CC8-E862-4526BC81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E93C2-9424-175A-B27C-5C6BB1BDB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25996-30A7-279A-14C3-EB062A49C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671EA7-660E-5F2A-9646-0AF31A32F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C2586-E27E-3351-D03E-17B5FE9FE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227987-8C6F-C610-2F29-B8E41838A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3B37-43CA-4784-AB37-057F230B6A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FC6BED-1142-C238-3837-6BC17FC91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7AFFCA-D5DD-4308-C262-0E08CFF3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1868-8F8F-4901-B5B3-BC81709C3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91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1B5A0-8C28-05C9-086F-BE39D021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5F0D1-9CFC-D6BF-D125-A55BAF88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3B37-43CA-4784-AB37-057F230B6A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78600-C84E-D416-4D0C-F6B280EB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C44F8-6001-F612-017F-D5D5C34B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1868-8F8F-4901-B5B3-BC81709C3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525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23A904-9728-CD49-2F4C-DF2873B12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3B37-43CA-4784-AB37-057F230B6A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581284-BCB3-C621-7B61-659A8B0A9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51A72-22A9-AC90-AEE9-D60443FB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1868-8F8F-4901-B5B3-BC81709C3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47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1C916-8816-D4F2-6156-3CDC11C03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9A5E4-D992-3AF7-D53E-A1D420EA9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67F18-F437-313F-ECB7-F4E44A9C5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79594-FF68-DF9C-069B-EB7FC6F1B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3B37-43CA-4784-AB37-057F230B6A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81522-02BF-938D-1446-80425A93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3A1F3-8463-4AAF-4E97-996380D3F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1868-8F8F-4901-B5B3-BC81709C3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89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CE526-9E1B-B823-3115-FD57CE73E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1FD558-BC56-8E97-F070-E4EF3D637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8FF7E-6C17-3928-DF1C-737110E39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1D197-8F87-CF42-9204-7B0B795B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3B37-43CA-4784-AB37-057F230B6A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09D26-8F5F-081C-CB5A-DC823981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3BA62-A81F-6101-7D76-330EDCF6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1868-8F8F-4901-B5B3-BC81709C3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30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6B851-1CE7-2FA4-761F-4A825276E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C68B1-4C60-26C8-417D-4D53BFED2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8CB68-4BC8-4A49-D680-65AF7AB5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3B37-43CA-4784-AB37-057F230B6A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0CBC3-3D64-F580-B94E-9F91291E2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84183-B549-2F19-0DCC-B516AF35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1868-8F8F-4901-B5B3-BC81709C3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988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DE90CA-3A6B-9B82-5810-87CFDFCF3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980A6-9468-F815-762A-02726AFA0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98706-0D99-4462-7752-BDDC54767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3B37-43CA-4784-AB37-057F230B6A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97B04-F78E-B422-2F7B-D5E3756F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DAE0A-33F5-AF6B-F479-6887B700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1868-8F8F-4901-B5B3-BC81709C3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55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6157AB-AFF5-166F-3BE7-AD01B9D6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727BC-41B3-111F-67F4-CC01F7C4F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D783B-9BD5-B285-E404-1B4F4F7A1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A3B37-43CA-4784-AB37-057F230B6A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C0220-5319-55FD-79A7-DFC1EB5C9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29520-95A1-C6F9-82A0-A3182EFC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21868-8F8F-4901-B5B3-BC81709C3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25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5094C-657C-0DE1-DEF4-FC20C3B4E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br>
              <a:rPr lang="en-US" sz="4800" b="1">
                <a:solidFill>
                  <a:srgbClr val="FFFFFF"/>
                </a:solidFill>
              </a:rPr>
            </a:br>
            <a:r>
              <a:rPr lang="en-US" sz="4800" b="1">
                <a:solidFill>
                  <a:srgbClr val="FFFFFF"/>
                </a:solidFill>
              </a:rPr>
              <a:t>Senior+ Engineering for Forward Deployed Engineers</a:t>
            </a:r>
            <a:endParaRPr lang="en-IN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AF3EA-E9FD-3306-75D8-A6EB710A3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Building Systems That Survive Customers, Scale, and Scrutiny</a:t>
            </a:r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151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70DE3-71AA-01D2-EA35-85329BCA5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an FDE Is (Set Context Early)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078664-D5F4-B550-2AD1-7C244BAE1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512002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3252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3845B2-54BC-BE39-72CE-D1336F90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Why This Checklist Exists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7C67CB-5440-6E68-39F5-D3FEA29ABF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69792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5755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D511E-378F-E56E-0528-ADCAB870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How Customers Review Your Work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F5C1A-5C93-A998-5D2C-F64BEF1CB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The Unspoken Evaluation</a:t>
            </a:r>
          </a:p>
          <a:p>
            <a:pPr marL="0" indent="0">
              <a:buNone/>
            </a:pPr>
            <a:r>
              <a:rPr lang="en-US" dirty="0"/>
              <a:t>Customers don’t ask:</a:t>
            </a:r>
          </a:p>
          <a:p>
            <a:pPr marL="0" indent="0">
              <a:buNone/>
            </a:pPr>
            <a:r>
              <a:rPr lang="en-US" dirty="0"/>
              <a:t>Is this elegant?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Customers ask:</a:t>
            </a:r>
          </a:p>
          <a:p>
            <a:pPr marL="0" indent="0">
              <a:buNone/>
            </a:pPr>
            <a:r>
              <a:rPr lang="en-US" dirty="0"/>
              <a:t>What happens when this breaks?</a:t>
            </a:r>
          </a:p>
          <a:p>
            <a:pPr marL="0" indent="0">
              <a:buNone/>
            </a:pPr>
            <a:r>
              <a:rPr lang="en-US" dirty="0"/>
              <a:t>Can my team own this?</a:t>
            </a:r>
          </a:p>
          <a:p>
            <a:pPr marL="0" indent="0">
              <a:buNone/>
            </a:pPr>
            <a:r>
              <a:rPr lang="en-US" dirty="0"/>
              <a:t>Can this go to production?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656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26C69-0D77-4A79-5272-AC8390363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The 6 Senior+ Dimensions (FDE View)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4A17D3-3DE8-4519-7F60-6C1E560F1D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1. Filesystem &amp; Documentation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2. Architecture &amp; Design Integrity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3. Implementation &amp; Code Quality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4. Testing &amp; Validation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5. Reviewer / Customer Lens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6. Final Production Benchmark</a:t>
            </a:r>
          </a:p>
        </p:txBody>
      </p:sp>
    </p:spTree>
    <p:extLst>
      <p:ext uri="{BB962C8B-B14F-4D97-AF65-F5344CB8AC3E}">
        <p14:creationId xmlns:p14="http://schemas.microsoft.com/office/powerpoint/2010/main" val="105453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2E585-EE66-5E97-5613-02ECD3CA4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3700">
                <a:solidFill>
                  <a:srgbClr val="FFFFFF"/>
                </a:solidFill>
              </a:rPr>
              <a:t>Section 1: Filesystem &amp; Documentation</a:t>
            </a:r>
            <a:endParaRPr lang="en-IN" sz="3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F6B1C-E5DD-71F1-42D9-50F15009D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Customer Reality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They won’t read your mind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They will inherit your system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73607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CC5E7-1C04-EE21-8017-EAFECC247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b="1" dirty="0"/>
              <a:t>Mandatory for Customer Handoff</a:t>
            </a:r>
          </a:p>
          <a:p>
            <a:pPr marL="0" indent="0">
              <a:buNone/>
            </a:pPr>
            <a:r>
              <a:rPr lang="en-IN" dirty="0"/>
              <a:t>   /requirements → customer constraints</a:t>
            </a:r>
          </a:p>
          <a:p>
            <a:pPr marL="0" indent="0">
              <a:buNone/>
            </a:pPr>
            <a:r>
              <a:rPr lang="en-IN" dirty="0"/>
              <a:t>   /docs/architecture → system ownership map</a:t>
            </a:r>
          </a:p>
          <a:p>
            <a:pPr marL="0" indent="0">
              <a:buNone/>
            </a:pPr>
            <a:r>
              <a:rPr lang="en-IN" dirty="0"/>
              <a:t>   /docs/data-flow → how data actually moves</a:t>
            </a:r>
          </a:p>
          <a:p>
            <a:pPr marL="0" indent="0">
              <a:buNone/>
            </a:pPr>
            <a:r>
              <a:rPr lang="en-IN" dirty="0"/>
              <a:t>   /</a:t>
            </a:r>
            <a:r>
              <a:rPr lang="en-IN" dirty="0" err="1"/>
              <a:t>src</a:t>
            </a:r>
            <a:r>
              <a:rPr lang="en-IN" dirty="0"/>
              <a:t> → clean service boundaries</a:t>
            </a:r>
          </a:p>
          <a:p>
            <a:pPr marL="0" indent="0">
              <a:buNone/>
            </a:pPr>
            <a:r>
              <a:rPr lang="en-IN" dirty="0"/>
              <a:t>   /tests → proof, not promises</a:t>
            </a:r>
          </a:p>
          <a:p>
            <a:pPr marL="0" indent="0">
              <a:buNone/>
            </a:pPr>
            <a:r>
              <a:rPr lang="en-IN" dirty="0"/>
              <a:t>  README.md → onboarding guide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README ≠ Code → </a:t>
            </a:r>
            <a:r>
              <a:rPr lang="en-IN" b="1" dirty="0"/>
              <a:t>customer escalation</a:t>
            </a:r>
            <a:endParaRPr lang="en-IN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27157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2EE9D-0DCB-50AF-30C8-425471288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Section 2: Architecture vs Data Flow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818D1C-77D0-58CD-35C8-5E7FCCCDB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094760"/>
              </p:ext>
            </p:extLst>
          </p:nvPr>
        </p:nvGraphicFramePr>
        <p:xfrm>
          <a:off x="3478371" y="2308702"/>
          <a:ext cx="5235258" cy="3127248"/>
        </p:xfrm>
        <a:graphic>
          <a:graphicData uri="http://schemas.openxmlformats.org/drawingml/2006/table">
            <a:tbl>
              <a:tblPr/>
              <a:tblGrid>
                <a:gridCol w="2756535">
                  <a:extLst>
                    <a:ext uri="{9D8B030D-6E8A-4147-A177-3AD203B41FA5}">
                      <a16:colId xmlns:a16="http://schemas.microsoft.com/office/drawing/2014/main" val="3055222139"/>
                    </a:ext>
                  </a:extLst>
                </a:gridCol>
                <a:gridCol w="2478723">
                  <a:extLst>
                    <a:ext uri="{9D8B030D-6E8A-4147-A177-3AD203B41FA5}">
                      <a16:colId xmlns:a16="http://schemas.microsoft.com/office/drawing/2014/main" val="113544443"/>
                    </a:ext>
                  </a:extLst>
                </a:gridCol>
              </a:tblGrid>
              <a:tr h="707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Architecture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Data Flow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96408"/>
                  </a:ext>
                </a:extLst>
              </a:tr>
              <a:tr h="1712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Who owns what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What happens when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172389"/>
                  </a:ext>
                </a:extLst>
              </a:tr>
              <a:tr h="707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Infra view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Logic view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714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2162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D02C-7B5C-D185-2D09-1B4B834A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Section 2: POC vs Production (Customer Lens)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58158-1CD8-E161-45D6-9989F54543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This Is Where FDEs Get Burned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POC</a:t>
            </a:r>
          </a:p>
          <a:p>
            <a:pPr marL="0" indent="0">
              <a:buNone/>
            </a:pPr>
            <a:r>
              <a:rPr lang="en-US" dirty="0"/>
              <a:t>Single service</a:t>
            </a:r>
          </a:p>
          <a:p>
            <a:pPr marL="0" indent="0">
              <a:buNone/>
            </a:pPr>
            <a:r>
              <a:rPr lang="en-US" dirty="0"/>
              <a:t>Manual steps</a:t>
            </a:r>
          </a:p>
          <a:p>
            <a:pPr marL="0" indent="0">
              <a:buNone/>
            </a:pPr>
            <a:r>
              <a:rPr lang="en-US" dirty="0"/>
              <a:t>No monitoring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“Customers don’t want demos. They want survivability.”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B5648-61E2-BFC5-FF1E-A92EE581A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580362"/>
            <a:ext cx="5181600" cy="23173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Production</a:t>
            </a:r>
          </a:p>
          <a:p>
            <a:pPr marL="0" indent="0">
              <a:buNone/>
            </a:pPr>
            <a:r>
              <a:rPr lang="en-US" dirty="0"/>
              <a:t>Gateway</a:t>
            </a:r>
          </a:p>
          <a:p>
            <a:pPr marL="0" indent="0">
              <a:buNone/>
            </a:pPr>
            <a:r>
              <a:rPr lang="en-US" dirty="0"/>
              <a:t>Scaling</a:t>
            </a:r>
          </a:p>
          <a:p>
            <a:pPr marL="0" indent="0">
              <a:buNone/>
            </a:pPr>
            <a:r>
              <a:rPr lang="en-US" dirty="0"/>
              <a:t>Alerts</a:t>
            </a:r>
          </a:p>
          <a:p>
            <a:pPr marL="0" indent="0">
              <a:buNone/>
            </a:pPr>
            <a:r>
              <a:rPr lang="en-US" dirty="0"/>
              <a:t>Runbooks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714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B210A2-1446-9E10-7F6C-0484F3959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Section 2: Design Decisions (ADRs)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81634-A488-0881-6D43-335C09AF5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Customers Ask “Why?”</a:t>
            </a:r>
          </a:p>
          <a:p>
            <a:pPr marL="0" indent="0">
              <a:buNone/>
            </a:pPr>
            <a:r>
              <a:rPr lang="en-US" dirty="0"/>
              <a:t>Why this DB?</a:t>
            </a:r>
          </a:p>
          <a:p>
            <a:pPr marL="0" indent="0">
              <a:buNone/>
            </a:pPr>
            <a:r>
              <a:rPr lang="en-US" dirty="0"/>
              <a:t>Why this model?</a:t>
            </a:r>
          </a:p>
          <a:p>
            <a:pPr marL="0" indent="0">
              <a:buNone/>
            </a:pPr>
            <a:r>
              <a:rPr lang="en-US" dirty="0"/>
              <a:t>Why this cost?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Senior FDE Answer:</a:t>
            </a:r>
            <a:br>
              <a:rPr lang="en-US" dirty="0"/>
            </a:br>
            <a:r>
              <a:rPr lang="en-US" dirty="0"/>
              <a:t>Trade-offs, not opinions.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62037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4356D3-62AB-2F53-1243-9C5C2DBF9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B2BB1-6EE5-0741-1C8D-2FA034828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An </a:t>
            </a:r>
            <a:r>
              <a:rPr lang="en-US" b="1" dirty="0"/>
              <a:t>Architecture Decision Record (ADR)</a:t>
            </a:r>
            <a:r>
              <a:rPr lang="en-US" dirty="0"/>
              <a:t> is a </a:t>
            </a:r>
            <a:r>
              <a:rPr lang="en-US" b="1" dirty="0"/>
              <a:t>short, structured document</a:t>
            </a:r>
            <a:r>
              <a:rPr lang="en-US" dirty="0"/>
              <a:t> that captures </a:t>
            </a:r>
            <a:r>
              <a:rPr lang="en-US" b="1" dirty="0"/>
              <a:t>why</a:t>
            </a:r>
            <a:r>
              <a:rPr lang="en-US" dirty="0"/>
              <a:t> a significant technical or architectural decision was made, </a:t>
            </a:r>
            <a:r>
              <a:rPr lang="en-US" b="1" dirty="0"/>
              <a:t>what was decided</a:t>
            </a:r>
            <a:r>
              <a:rPr lang="en-US" dirty="0"/>
              <a:t>, and </a:t>
            </a:r>
            <a:r>
              <a:rPr lang="en-US" b="1" dirty="0"/>
              <a:t>what alternatives were considered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383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1905-1B88-4098-EDE2-2712311B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0E5D3-3BAC-5607-0517-4880583B3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Production Code = Failure-Aware Code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Immediate Red Flags for Customers</a:t>
            </a:r>
            <a:endParaRPr lang="en-US" dirty="0"/>
          </a:p>
          <a:p>
            <a:r>
              <a:rPr lang="en-US" dirty="0"/>
              <a:t>print logs</a:t>
            </a:r>
          </a:p>
          <a:p>
            <a:r>
              <a:rPr lang="en-US" dirty="0"/>
              <a:t>hardcoded keys</a:t>
            </a:r>
          </a:p>
          <a:p>
            <a:r>
              <a:rPr lang="en-US" dirty="0"/>
              <a:t>single massive file</a:t>
            </a:r>
          </a:p>
          <a:p>
            <a:r>
              <a:rPr lang="en-US" dirty="0"/>
              <a:t>no validation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740E2E-B77F-CB96-A0FA-326664616CC1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Section 3: Implementation &amp; Code Quality</a:t>
            </a:r>
          </a:p>
        </p:txBody>
      </p:sp>
    </p:spTree>
    <p:extLst>
      <p:ext uri="{BB962C8B-B14F-4D97-AF65-F5344CB8AC3E}">
        <p14:creationId xmlns:p14="http://schemas.microsoft.com/office/powerpoint/2010/main" val="763923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66190-4BDA-5B9E-5C3D-E2171879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</a:rPr>
              <a:t>Section 3: FDE Code Signals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CDF57-FE62-9C3F-2AA1-C01A8B24F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IN" dirty="0"/>
              <a:t>Structured logs → supportability</a:t>
            </a:r>
          </a:p>
          <a:p>
            <a:r>
              <a:rPr lang="en-IN" dirty="0"/>
              <a:t>Validation → data trust</a:t>
            </a:r>
          </a:p>
          <a:p>
            <a:r>
              <a:rPr lang="en-IN" dirty="0"/>
              <a:t>Pooling → performance under load</a:t>
            </a:r>
          </a:p>
          <a:p>
            <a:r>
              <a:rPr lang="en-IN" dirty="0"/>
              <a:t>Docker → customer reproducibility</a:t>
            </a:r>
          </a:p>
          <a:p>
            <a:r>
              <a:rPr lang="en-IN" dirty="0"/>
              <a:t>“If the customer can’t run it, it’s not delivered.”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10895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DB6BB-C50B-7FDB-79DD-A43894437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5" y="649480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 Section 4: Testing &amp; Validation</a:t>
            </a:r>
            <a:br>
              <a:rPr lang="en-US" sz="4000" b="1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D6176-5295-1B4C-413E-9FDD72195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b="1" dirty="0"/>
              <a:t>“Looks Good” Is Not a Metric</a:t>
            </a:r>
          </a:p>
          <a:p>
            <a:r>
              <a:rPr lang="en-US" dirty="0"/>
              <a:t>Customers ask:</a:t>
            </a:r>
          </a:p>
          <a:p>
            <a:r>
              <a:rPr lang="en-US" dirty="0"/>
              <a:t>Is it accurate?</a:t>
            </a:r>
          </a:p>
          <a:p>
            <a:r>
              <a:rPr lang="en-US" dirty="0"/>
              <a:t>Is it fast?</a:t>
            </a:r>
          </a:p>
          <a:p>
            <a:r>
              <a:rPr lang="en-US" dirty="0"/>
              <a:t>Is it stable?</a:t>
            </a:r>
          </a:p>
          <a:p>
            <a:endParaRPr lang="en-US" sz="2000" b="1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77504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90BCA-BEEF-CCA5-6B26-93A4AD01F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 dirty="0">
                <a:solidFill>
                  <a:srgbClr val="FFFFFF"/>
                </a:solidFill>
              </a:rPr>
              <a:t>Section 4: Senior FDE Validation</a:t>
            </a:r>
            <a:br>
              <a:rPr lang="en-IN" sz="4000" b="1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78893-E59C-7C77-A182-3F3C0118A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IN" dirty="0"/>
              <a:t>Ground truth dataset</a:t>
            </a:r>
          </a:p>
          <a:p>
            <a:r>
              <a:rPr lang="en-IN" dirty="0"/>
              <a:t>Automated evaluation</a:t>
            </a:r>
          </a:p>
          <a:p>
            <a:r>
              <a:rPr lang="en-IN" dirty="0"/>
              <a:t>Metrics:</a:t>
            </a:r>
          </a:p>
          <a:p>
            <a:pPr lvl="1"/>
            <a:r>
              <a:rPr lang="en-IN" sz="2800" dirty="0"/>
              <a:t>Latency (p95/p99)</a:t>
            </a:r>
          </a:p>
          <a:p>
            <a:pPr lvl="1"/>
            <a:r>
              <a:rPr lang="en-IN" sz="2800" dirty="0"/>
              <a:t>Accuracy (NDCG / LLM-as-Judge)</a:t>
            </a:r>
          </a:p>
          <a:p>
            <a:r>
              <a:rPr lang="en-IN" b="1" dirty="0"/>
              <a:t>No metrics = no credibility</a:t>
            </a:r>
            <a:endParaRPr lang="en-IN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02507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1D982-71B2-3561-78DF-16D6C563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Section 5: Reviewer / Customer Lens</a:t>
            </a:r>
            <a:br>
              <a:rPr lang="en-US" sz="4000" b="1">
                <a:solidFill>
                  <a:srgbClr val="FFFFFF"/>
                </a:solidFill>
              </a:rPr>
            </a:b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6EA03-228E-F036-CC43-31FE79C8E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You Are Being Scanned, Not Studied</a:t>
            </a:r>
          </a:p>
          <a:p>
            <a:pPr marL="0" indent="0">
              <a:buNone/>
            </a:pPr>
            <a:r>
              <a:rPr lang="en-US" dirty="0"/>
              <a:t>They scan for:</a:t>
            </a:r>
          </a:p>
          <a:p>
            <a:r>
              <a:rPr lang="en-US" dirty="0"/>
              <a:t>Failure handling</a:t>
            </a:r>
          </a:p>
          <a:p>
            <a:r>
              <a:rPr lang="en-US" dirty="0"/>
              <a:t>Observability</a:t>
            </a:r>
          </a:p>
          <a:p>
            <a:r>
              <a:rPr lang="en-US" dirty="0"/>
              <a:t>Scalability</a:t>
            </a:r>
          </a:p>
          <a:p>
            <a:r>
              <a:rPr lang="en-US" dirty="0"/>
              <a:t>Ownership clarity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17118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FDF53-88C7-FAE1-801D-F77BEA0B8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Section 6: What “YES” Means</a:t>
            </a:r>
            <a:br>
              <a:rPr lang="en-US" sz="4000">
                <a:solidFill>
                  <a:srgbClr val="FFFFFF"/>
                </a:solidFill>
              </a:rPr>
            </a:b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BAC21-E21A-1B7D-BEA1-63E85BD2F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Senior+ FDE Benchmark</a:t>
            </a:r>
          </a:p>
          <a:p>
            <a:pPr marL="0" indent="0">
              <a:buNone/>
            </a:pPr>
            <a:r>
              <a:rPr lang="en-US" dirty="0"/>
              <a:t>Stateless</a:t>
            </a:r>
          </a:p>
          <a:p>
            <a:pPr marL="0" indent="0">
              <a:buNone/>
            </a:pPr>
            <a:r>
              <a:rPr lang="en-US" dirty="0"/>
              <a:t>Scalable</a:t>
            </a:r>
          </a:p>
          <a:p>
            <a:pPr marL="0" indent="0">
              <a:buNone/>
            </a:pPr>
            <a:r>
              <a:rPr lang="en-US" dirty="0"/>
              <a:t>Observable</a:t>
            </a:r>
          </a:p>
          <a:p>
            <a:pPr marL="0" indent="0">
              <a:buNone/>
            </a:pPr>
            <a:r>
              <a:rPr lang="en-US" dirty="0"/>
              <a:t>Documented</a:t>
            </a:r>
          </a:p>
          <a:p>
            <a:pPr marL="0" indent="0">
              <a:buNone/>
            </a:pPr>
            <a:r>
              <a:rPr lang="en-US" dirty="0"/>
              <a:t>Transferable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“If I leave tomorrow, this still runs.”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75975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00E4E6DDEDF6488EC99E21B69E2509" ma:contentTypeVersion="7" ma:contentTypeDescription="Create a new document." ma:contentTypeScope="" ma:versionID="2d33818d509a81fd8c97d7205426deaf">
  <xsd:schema xmlns:xsd="http://www.w3.org/2001/XMLSchema" xmlns:xs="http://www.w3.org/2001/XMLSchema" xmlns:p="http://schemas.microsoft.com/office/2006/metadata/properties" xmlns:ns2="4e57b6c6-0e56-496c-a776-735b43dfd70b" targetNamespace="http://schemas.microsoft.com/office/2006/metadata/properties" ma:root="true" ma:fieldsID="ab3df804f33e5dff66f68a07ddd21941" ns2:_="">
    <xsd:import namespace="4e57b6c6-0e56-496c-a776-735b43dfd7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7b6c6-0e56-496c-a776-735b43dfd7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40AF81A-A185-4D61-BF45-8CA5292B132B}"/>
</file>

<file path=customXml/itemProps2.xml><?xml version="1.0" encoding="utf-8"?>
<ds:datastoreItem xmlns:ds="http://schemas.openxmlformats.org/officeDocument/2006/customXml" ds:itemID="{D8430435-4570-4A84-AE83-9F4E82243CAD}"/>
</file>

<file path=customXml/itemProps3.xml><?xml version="1.0" encoding="utf-8"?>
<ds:datastoreItem xmlns:ds="http://schemas.openxmlformats.org/officeDocument/2006/customXml" ds:itemID="{ADD5A292-4458-4107-ADE1-341D3E750CC6}"/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578</Words>
  <Application>Microsoft Office PowerPoint</Application>
  <PresentationFormat>Widescreen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 Theme</vt:lpstr>
      <vt:lpstr> Senior+ Engineering for Forward Deployed Engineers</vt:lpstr>
      <vt:lpstr>What an FDE Is (Set Context Early)</vt:lpstr>
      <vt:lpstr>Why This Checklist Exists</vt:lpstr>
      <vt:lpstr>How Customers Review Your Work</vt:lpstr>
      <vt:lpstr>The 6 Senior+ Dimensions (FDE View)</vt:lpstr>
      <vt:lpstr>Section 1: Filesystem &amp; Documentation</vt:lpstr>
      <vt:lpstr>PowerPoint Presentation</vt:lpstr>
      <vt:lpstr>Section 2: Architecture vs Data Flow</vt:lpstr>
      <vt:lpstr>Section 2: POC vs Production (Customer Lens)</vt:lpstr>
      <vt:lpstr>Section 2: Design Decisions (ADRs)</vt:lpstr>
      <vt:lpstr>PowerPoint Presentation</vt:lpstr>
      <vt:lpstr> </vt:lpstr>
      <vt:lpstr>Section 3: FDE Code Signals</vt:lpstr>
      <vt:lpstr> Section 4: Testing &amp; Validation </vt:lpstr>
      <vt:lpstr>Section 4: Senior FDE Validation </vt:lpstr>
      <vt:lpstr>Section 5: Reviewer / Customer Lens </vt:lpstr>
      <vt:lpstr>Section 6: What “YES” Means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Pasupuleti Samatha [UNext]</dc:creator>
  <cp:lastModifiedBy>Pasupuleti Samatha [UNext]</cp:lastModifiedBy>
  <cp:revision>3</cp:revision>
  <dcterms:created xsi:type="dcterms:W3CDTF">2026-02-23T06:16:11Z</dcterms:created>
  <dcterms:modified xsi:type="dcterms:W3CDTF">2026-02-23T11:08:35Z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0x010100D900E4E6DDEDF6488EC99E21B69E2509</vt:lpwstr>
  </property>
</Properties>
</file>