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6A014-65DE-638A-97CB-CDA99033D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551D3-26EE-2D7B-9CB1-9ADA232DE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5B6C8-1BB9-22FC-85DB-49EF0FAB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D7A7-C942-4028-A9CB-7239723C87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67BB8-39AB-BD98-F0CE-0C3B42FB4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E9CB0-CE4C-F2E9-1DC8-C1840BAC7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81C2-6660-4B79-BDC1-0724046CF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216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33B3C-2247-6DEC-4F3F-D2DEC1CB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D90A6-313F-33FE-41A3-6C27299C4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86176-8B9B-7C16-2564-D5E43229C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D7A7-C942-4028-A9CB-7239723C87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356D1-1EA4-2D0F-50C2-15629382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C6555-D509-42B8-1A45-723FAE123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81C2-6660-4B79-BDC1-0724046CF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418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EF11A-DF81-BF41-7B6C-113A7E63E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7950D-FC2C-BF87-53B3-568340206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7E0C6-F749-E9BE-B5ED-49A457508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D7A7-C942-4028-A9CB-7239723C87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24226-EC9D-4F3A-A2D7-00A8FD5A6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33C41-1867-E518-A151-0A901DF06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81C2-6660-4B79-BDC1-0724046CF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1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8D164-9B6A-6757-5BEC-533E0D5F4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BA053-2787-D7B4-1DE4-2FD3058083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8FB7-3E36-1BAE-7932-1D80EB107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CCAA5-A690-554B-83D9-D5ED28517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D7A7-C942-4028-A9CB-7239723C87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40B18-BF1E-F6B9-8817-E87D16471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14EE5-F213-4D76-6B58-42432A483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81C2-6660-4B79-BDC1-0724046CF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20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2690A-01FC-93CA-B787-1A27810F3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A9FC3-30A8-654D-E50D-CDF8EEB77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D89D7-F65A-643B-2BC2-492535F14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4D4E9-6BA0-92C7-B0CB-E662508D0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85FB72-05E1-62F0-CFAB-F63181A7B9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D9859-79F1-C4FE-9790-8574696C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D7A7-C942-4028-A9CB-7239723C87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090994-58F1-57ED-29B8-BA9EF587C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327BF-6006-17D1-C0E0-F2578628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81C2-6660-4B79-BDC1-0724046CF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217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1C794-9CB7-1B95-2AFE-C1E4397AA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1F389-DE6B-4872-F65C-436AF1A99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D7A7-C942-4028-A9CB-7239723C87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67446-B298-5FDE-42EC-1F8343E66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461E62-F5BB-B306-53A1-E72D66E01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81C2-6660-4B79-BDC1-0724046CF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101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FF99FC-3581-1566-59D5-032AF69B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D7A7-C942-4028-A9CB-7239723C87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AC8AD-B9EB-84F1-876D-9712D62B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8DC41-E2A6-15D7-DACA-97BDDA936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81C2-6660-4B79-BDC1-0724046CF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973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F4E3-42AD-2892-8139-68F855F29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B92E5-DFB0-B304-5C61-1B55C5E0C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526BB-6BFC-2E80-B0DB-8EC52FCC8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4EB67-F90E-4610-C566-478CB0BF2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D7A7-C942-4028-A9CB-7239723C87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CDD51-442B-0953-75C1-52127549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225A0-7BF4-4904-3EC5-24577131A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81C2-6660-4B79-BDC1-0724046CF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40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72296-8649-BE54-333F-E46FF559E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0AFCA0-B419-8E9F-3D72-CDA8B4DF8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E8219-C3BE-3F25-4ED4-3303BFAFD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6890A-F1B8-3925-FC73-54A00BEAA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D7A7-C942-4028-A9CB-7239723C87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9F4C1-46C4-63E1-23F6-A917CDE05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66B58-8424-7C3B-4962-41ED530B8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81C2-6660-4B79-BDC1-0724046CF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23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0CEE9-11AF-A136-8233-57CD0FC8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4FC53-9E04-5A7B-1175-0003F4E27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B18AB-7E5A-A0A8-9F7C-2C199C652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D7A7-C942-4028-A9CB-7239723C87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2D093-C984-E947-E37B-05D9F40D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5E778-309D-E88C-7B62-BE66E5B3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81C2-6660-4B79-BDC1-0724046CF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205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645A22-99CF-BD9D-E943-10E6302A2E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FEC530-E249-E7F5-5890-9F52C6588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84273-38DB-1DFD-7DCE-FA88B4CB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D7A7-C942-4028-A9CB-7239723C87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B39DA-CD99-5E63-4C60-9E66E63FF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E79B-4590-8F65-B81C-830196A6C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81C2-6660-4B79-BDC1-0724046CF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328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FAFDD9-AA26-5568-903B-C6FD6220B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0444B-1A14-66B4-E148-BDC64A6FD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49624-1C90-46E2-32B4-DFE23CB9F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8DD7A7-C942-4028-A9CB-7239723C87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10011-758C-1274-8284-664A55F12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67916-6D18-9253-B093-A33C95B20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881C2-6660-4B79-BDC1-0724046CF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77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B9CB-73A7-2959-A05B-E9988BE787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Testing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8CD76-5DE5-0C72-C136-728554EFA7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603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40B5A0-9F71-BAD3-5468-E64616F0D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What is Software Testing?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49642-4CE5-A18F-DEFB-621A2C385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/>
              <a:t>Software Testing is the process of </a:t>
            </a:r>
            <a:r>
              <a:rPr lang="en-US" b="1"/>
              <a:t>verifying and validating</a:t>
            </a:r>
            <a:r>
              <a:rPr lang="en-US"/>
              <a:t> a software application</a:t>
            </a:r>
          </a:p>
          <a:p>
            <a:r>
              <a:rPr lang="en-US"/>
              <a:t>It ensures that the application:</a:t>
            </a:r>
          </a:p>
          <a:p>
            <a:pPr lvl="1"/>
            <a:r>
              <a:rPr lang="en-US"/>
              <a:t>Works as expected</a:t>
            </a:r>
          </a:p>
          <a:p>
            <a:pPr lvl="1"/>
            <a:r>
              <a:rPr lang="en-US"/>
              <a:t>Meets business requirements</a:t>
            </a:r>
          </a:p>
          <a:p>
            <a:pPr lvl="1"/>
            <a:r>
              <a:rPr lang="en-US"/>
              <a:t>Is free from critical defects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Testing helps identify </a:t>
            </a:r>
            <a:r>
              <a:rPr lang="en-US" b="1"/>
              <a:t>bugs, errors, and missing requirements</a:t>
            </a:r>
            <a:r>
              <a:rPr lang="en-US"/>
              <a:t> before production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1678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BF307-B18E-21D8-3709-7E5987E1D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Why Do We Need Testing?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0E502-484B-7891-7264-0F6229F96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To </a:t>
            </a:r>
            <a:r>
              <a:rPr lang="en-US" b="1" dirty="0"/>
              <a:t>find bugs early</a:t>
            </a:r>
            <a:r>
              <a:rPr lang="en-US" dirty="0"/>
              <a:t> in the development lifecycle</a:t>
            </a:r>
          </a:p>
          <a:p>
            <a:r>
              <a:rPr lang="en-US" dirty="0"/>
              <a:t>To </a:t>
            </a:r>
            <a:r>
              <a:rPr lang="en-US" b="1" dirty="0"/>
              <a:t>improve software quality</a:t>
            </a:r>
            <a:endParaRPr lang="en-US" dirty="0"/>
          </a:p>
          <a:p>
            <a:r>
              <a:rPr lang="en-US" dirty="0"/>
              <a:t>To ensure </a:t>
            </a:r>
            <a:r>
              <a:rPr lang="en-US" b="1" dirty="0"/>
              <a:t>reliability and stability</a:t>
            </a:r>
            <a:endParaRPr lang="en-US" dirty="0"/>
          </a:p>
          <a:p>
            <a:r>
              <a:rPr lang="en-US" dirty="0"/>
              <a:t>To avoid </a:t>
            </a:r>
            <a:r>
              <a:rPr lang="en-US" b="1" dirty="0"/>
              <a:t>costly production failures</a:t>
            </a:r>
            <a:endParaRPr lang="en-US" dirty="0"/>
          </a:p>
          <a:p>
            <a:r>
              <a:rPr lang="en-US" dirty="0"/>
              <a:t>To build </a:t>
            </a:r>
            <a:r>
              <a:rPr lang="en-US" b="1" dirty="0"/>
              <a:t>confidence</a:t>
            </a:r>
            <a:r>
              <a:rPr lang="en-US" dirty="0"/>
              <a:t> before releasing software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8731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04249-8A06-BDEB-B51D-637FCC581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Types of Software Testing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45497-ABBD-54FB-2E89-D7433C376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Based on Level</a:t>
            </a:r>
          </a:p>
          <a:p>
            <a:r>
              <a:rPr lang="en-US" dirty="0"/>
              <a:t>Unit Testing</a:t>
            </a:r>
          </a:p>
          <a:p>
            <a:r>
              <a:rPr lang="en-US" dirty="0"/>
              <a:t>Integration Testing</a:t>
            </a:r>
          </a:p>
          <a:p>
            <a:r>
              <a:rPr lang="en-US" dirty="0"/>
              <a:t>System Testing</a:t>
            </a:r>
          </a:p>
          <a:p>
            <a:r>
              <a:rPr lang="en-US" dirty="0"/>
              <a:t>Acceptance Testing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9552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E18125-C670-1F80-0A63-4A70FCE3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Types of Software Testing (contd)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C0BC4-5C67-8C71-9FE8-5BE8AA1A3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Based on Approach</a:t>
            </a:r>
          </a:p>
          <a:p>
            <a:r>
              <a:rPr lang="en-US" dirty="0"/>
              <a:t>Manual Testing</a:t>
            </a:r>
          </a:p>
          <a:p>
            <a:r>
              <a:rPr lang="en-US" dirty="0"/>
              <a:t>Automation Testing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842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701D6D-C4FB-A9D1-635B-F289B2BCBCD4}"/>
              </a:ext>
            </a:extLst>
          </p:cNvPr>
          <p:cNvSpPr txBox="1">
            <a:spLocks/>
          </p:cNvSpPr>
          <p:nvPr/>
        </p:nvSpPr>
        <p:spPr>
          <a:xfrm>
            <a:off x="686834" y="1153572"/>
            <a:ext cx="320040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Types of Software Testing (contd)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59B2E-28F5-6F31-362B-D113248FE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Based on Purpose</a:t>
            </a:r>
          </a:p>
          <a:p>
            <a:r>
              <a:rPr lang="en-US" dirty="0"/>
              <a:t>Functional Testing</a:t>
            </a:r>
          </a:p>
          <a:p>
            <a:r>
              <a:rPr lang="en-US" dirty="0"/>
              <a:t>Non-Functional Testing (Performance, Security, Usability)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40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9D31EF-4EA0-C9B6-28C0-CE86CCF9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What is Unit Testing?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343DA-9AD6-0039-70D3-5610E9C56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Unit Testing tests </a:t>
            </a:r>
            <a:r>
              <a:rPr lang="en-US" b="1" dirty="0"/>
              <a:t>individual units/components</a:t>
            </a:r>
            <a:r>
              <a:rPr lang="en-US" dirty="0"/>
              <a:t> of code</a:t>
            </a:r>
          </a:p>
          <a:p>
            <a:r>
              <a:rPr lang="en-US" dirty="0"/>
              <a:t>A unit can be:</a:t>
            </a:r>
          </a:p>
          <a:p>
            <a:pPr lvl="1"/>
            <a:r>
              <a:rPr lang="en-US" dirty="0"/>
              <a:t>A function</a:t>
            </a:r>
          </a:p>
          <a:p>
            <a:pPr lvl="1"/>
            <a:r>
              <a:rPr lang="en-US" dirty="0"/>
              <a:t>A method</a:t>
            </a:r>
          </a:p>
          <a:p>
            <a:pPr lvl="1"/>
            <a:r>
              <a:rPr lang="en-US" dirty="0"/>
              <a:t>A class</a:t>
            </a:r>
          </a:p>
          <a:p>
            <a:r>
              <a:rPr lang="en-US" dirty="0"/>
              <a:t>It is usually written by </a:t>
            </a:r>
            <a:r>
              <a:rPr lang="en-US" b="1" dirty="0"/>
              <a:t>developers</a:t>
            </a:r>
            <a:endParaRPr lang="en-US" dirty="0"/>
          </a:p>
          <a:p>
            <a:r>
              <a:rPr lang="en-US" dirty="0"/>
              <a:t>Focuses on </a:t>
            </a:r>
            <a:r>
              <a:rPr lang="en-US" b="1" dirty="0"/>
              <a:t>smallest testable parts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1430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3D54B6-037F-AE1F-468A-455A211BB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Advantages of Unit Testing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E70F5-1AFE-56C6-E2D2-84DC0A824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Detects bugs </a:t>
            </a:r>
            <a:r>
              <a:rPr lang="en-US" b="1" dirty="0"/>
              <a:t>early</a:t>
            </a:r>
            <a:endParaRPr lang="en-US" dirty="0"/>
          </a:p>
          <a:p>
            <a:r>
              <a:rPr lang="en-US" dirty="0"/>
              <a:t>Makes code </a:t>
            </a:r>
            <a:r>
              <a:rPr lang="en-US" b="1" dirty="0"/>
              <a:t>easy to maintain</a:t>
            </a:r>
            <a:endParaRPr lang="en-US" dirty="0"/>
          </a:p>
          <a:p>
            <a:r>
              <a:rPr lang="en-US" dirty="0"/>
              <a:t>Improves </a:t>
            </a:r>
            <a:r>
              <a:rPr lang="en-US" b="1" dirty="0"/>
              <a:t>code quality</a:t>
            </a:r>
            <a:endParaRPr lang="en-US" dirty="0"/>
          </a:p>
          <a:p>
            <a:r>
              <a:rPr lang="en-US" dirty="0"/>
              <a:t>Simplifies debugging</a:t>
            </a:r>
          </a:p>
          <a:p>
            <a:r>
              <a:rPr lang="en-US" dirty="0"/>
              <a:t>Supports </a:t>
            </a:r>
            <a:r>
              <a:rPr lang="en-US" b="1" dirty="0"/>
              <a:t>refactoring</a:t>
            </a:r>
            <a:endParaRPr lang="en-US" dirty="0"/>
          </a:p>
          <a:p>
            <a:r>
              <a:rPr lang="en-US" dirty="0"/>
              <a:t>Acts as </a:t>
            </a:r>
            <a:r>
              <a:rPr lang="en-US" b="1" dirty="0"/>
              <a:t>documentation</a:t>
            </a:r>
            <a:r>
              <a:rPr lang="en-US" dirty="0"/>
              <a:t> for developers</a:t>
            </a:r>
          </a:p>
          <a:p>
            <a:r>
              <a:rPr lang="en-US" dirty="0"/>
              <a:t>Enables </a:t>
            </a:r>
            <a:r>
              <a:rPr lang="en-US" b="1" dirty="0"/>
              <a:t>CI/CD pipelines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1592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8F132-6000-6B93-D7A1-EA34DC4F3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Unit Testing Tools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15CE1-186B-3B97-824C-CB8BE164D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Backend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pytest</a:t>
            </a:r>
            <a:r>
              <a:rPr lang="en-US" dirty="0"/>
              <a:t> (Python)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unittest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Frontend</a:t>
            </a:r>
          </a:p>
          <a:p>
            <a:pPr marL="0" indent="0">
              <a:buNone/>
            </a:pPr>
            <a:r>
              <a:rPr lang="en-US" dirty="0"/>
              <a:t>  Jest</a:t>
            </a:r>
          </a:p>
          <a:p>
            <a:pPr marL="0" indent="0">
              <a:buNone/>
            </a:pPr>
            <a:r>
              <a:rPr lang="en-US" dirty="0"/>
              <a:t>  React Testing Library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8132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9AE5CE-4BDF-9EE0-8579-BD597075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3520" y="2744662"/>
            <a:ext cx="658970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UNIT TESTING </a:t>
            </a:r>
            <a:br>
              <a:rPr lang="en-US" sz="3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 </a:t>
            </a:r>
            <a:br>
              <a:rPr lang="en-US" sz="3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FAST-API USING </a:t>
            </a:r>
            <a:br>
              <a:rPr lang="en-US" sz="3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PYTEST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303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9362DC-BB70-07A3-56E6-CD665F719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A6199-1842-50BF-551B-0AE3A75E9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What is </a:t>
            </a:r>
            <a:r>
              <a:rPr lang="en-US" b="1" dirty="0" err="1"/>
              <a:t>pytest</a:t>
            </a:r>
            <a:r>
              <a:rPr lang="en-US" b="1" dirty="0"/>
              <a:t>?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pytest</a:t>
            </a:r>
            <a:r>
              <a:rPr lang="en-US" dirty="0"/>
              <a:t> is a </a:t>
            </a:r>
            <a:r>
              <a:rPr lang="en-US" b="1" dirty="0"/>
              <a:t>Python testing framework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Simple syntax</a:t>
            </a:r>
          </a:p>
          <a:p>
            <a:pPr marL="0" indent="0">
              <a:buNone/>
            </a:pPr>
            <a:r>
              <a:rPr lang="en-US" dirty="0"/>
              <a:t>   Powerful assertions</a:t>
            </a:r>
          </a:p>
          <a:p>
            <a:pPr marL="0" indent="0">
              <a:buNone/>
            </a:pPr>
            <a:r>
              <a:rPr lang="en-US" dirty="0"/>
              <a:t>   Automatic test discovery</a:t>
            </a:r>
          </a:p>
          <a:p>
            <a:pPr marL="0" indent="0">
              <a:buNone/>
            </a:pPr>
            <a:r>
              <a:rPr lang="en-US" dirty="0"/>
              <a:t>   Widely used with </a:t>
            </a:r>
            <a:r>
              <a:rPr lang="en-US" dirty="0" err="1"/>
              <a:t>FastAPI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103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6D9E4-D1F9-E7E0-8F37-4C40EDB40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 dirty="0"/>
              <a:t>Installing </a:t>
            </a:r>
            <a:r>
              <a:rPr lang="en-IN" b="1" dirty="0" err="1"/>
              <a:t>pytest</a:t>
            </a:r>
            <a:r>
              <a:rPr lang="en-IN" b="1" dirty="0"/>
              <a:t> for </a:t>
            </a:r>
            <a:r>
              <a:rPr lang="en-IN" b="1" dirty="0" err="1"/>
              <a:t>FastAPI</a:t>
            </a:r>
            <a:br>
              <a:rPr lang="en-IN" b="1" dirty="0"/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D9597-ED69-15C0-44B4-3475AB1F7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dirty="0"/>
              <a:t>pip install </a:t>
            </a:r>
            <a:r>
              <a:rPr lang="en-IN" dirty="0" err="1"/>
              <a:t>pytest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pip install </a:t>
            </a:r>
            <a:r>
              <a:rPr lang="en-IN" dirty="0" err="1"/>
              <a:t>httpx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Optional:</a:t>
            </a:r>
          </a:p>
          <a:p>
            <a:pPr marL="0" indent="0">
              <a:buNone/>
            </a:pPr>
            <a:r>
              <a:rPr lang="en-IN" dirty="0"/>
              <a:t>pip install </a:t>
            </a:r>
            <a:r>
              <a:rPr lang="en-IN" dirty="0" err="1"/>
              <a:t>pytest-cov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7904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F8EB1-9FCD-5619-402B-B2371ADDE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 dirty="0"/>
              <a:t>Basic </a:t>
            </a:r>
            <a:r>
              <a:rPr lang="en-US" b="1" dirty="0" err="1"/>
              <a:t>pytest</a:t>
            </a:r>
            <a:r>
              <a:rPr lang="en-US" b="1" dirty="0"/>
              <a:t> Rules</a:t>
            </a:r>
            <a:br>
              <a:rPr lang="en-US" b="1" dirty="0"/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5DAA2-ADFE-E85B-4ED1-728A485EF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Test files start with:</a:t>
            </a:r>
          </a:p>
          <a:p>
            <a:pPr lvl="1"/>
            <a:r>
              <a:rPr lang="en-US" dirty="0"/>
              <a:t>test_*.py or *_test.py</a:t>
            </a:r>
          </a:p>
          <a:p>
            <a:pPr marL="0" indent="0">
              <a:buNone/>
            </a:pPr>
            <a:r>
              <a:rPr lang="en-US" dirty="0"/>
              <a:t>Test functions start with:</a:t>
            </a:r>
          </a:p>
          <a:p>
            <a:pPr lvl="1"/>
            <a:r>
              <a:rPr lang="en-US" dirty="0"/>
              <a:t>test_</a:t>
            </a:r>
          </a:p>
          <a:p>
            <a:pPr marL="0" indent="0">
              <a:buNone/>
            </a:pPr>
            <a:r>
              <a:rPr lang="en-US" dirty="0"/>
              <a:t>Uses </a:t>
            </a:r>
            <a:r>
              <a:rPr lang="en-US" b="1" dirty="0"/>
              <a:t>simple assert statements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459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4A1A4-D278-D543-0F44-BBEB5FA17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3AA80-217E-9610-F75E-FB116573F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4400" dirty="0"/>
              <a:t>def </a:t>
            </a:r>
            <a:r>
              <a:rPr lang="en-US" sz="4400" dirty="0" err="1"/>
              <a:t>test_add</a:t>
            </a:r>
            <a:r>
              <a:rPr lang="en-US" sz="4400" dirty="0"/>
              <a:t>():</a:t>
            </a:r>
          </a:p>
          <a:p>
            <a:pPr marL="0" indent="0">
              <a:buNone/>
            </a:pPr>
            <a:r>
              <a:rPr lang="en-US" sz="4400" dirty="0"/>
              <a:t>    assert 2 + 2 == 4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4112902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58275E-A87B-C4E6-4215-F4F6028C9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 dirty="0"/>
              <a:t>Sample </a:t>
            </a:r>
            <a:r>
              <a:rPr lang="en-IN" b="1" dirty="0" err="1"/>
              <a:t>FastAPI</a:t>
            </a:r>
            <a:r>
              <a:rPr lang="en-IN" b="1" dirty="0"/>
              <a:t> App</a:t>
            </a:r>
            <a:br>
              <a:rPr lang="en-IN" b="1" dirty="0"/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2F5B8-F680-C970-254F-B16E6918C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3600" dirty="0"/>
              <a:t>from </a:t>
            </a:r>
            <a:r>
              <a:rPr lang="en-IN" sz="3600" dirty="0" err="1"/>
              <a:t>fastapi</a:t>
            </a:r>
            <a:r>
              <a:rPr lang="en-IN" sz="3600" dirty="0"/>
              <a:t> import </a:t>
            </a:r>
            <a:r>
              <a:rPr lang="en-IN" sz="3600" dirty="0" err="1"/>
              <a:t>FastAPI</a:t>
            </a:r>
            <a:endParaRPr lang="en-IN" sz="3600" dirty="0"/>
          </a:p>
          <a:p>
            <a:pPr marL="0" indent="0">
              <a:buNone/>
            </a:pPr>
            <a:br>
              <a:rPr lang="en-IN" sz="3600" dirty="0"/>
            </a:br>
            <a:r>
              <a:rPr lang="en-IN" sz="3600" dirty="0"/>
              <a:t>app = </a:t>
            </a:r>
            <a:r>
              <a:rPr lang="en-IN" sz="3600" dirty="0" err="1"/>
              <a:t>FastAPI</a:t>
            </a:r>
            <a:r>
              <a:rPr lang="en-IN" sz="3600" dirty="0"/>
              <a:t>()</a:t>
            </a:r>
          </a:p>
          <a:p>
            <a:pPr marL="0" indent="0">
              <a:buNone/>
            </a:pPr>
            <a:endParaRPr lang="en-IN" sz="3600" dirty="0"/>
          </a:p>
          <a:p>
            <a:pPr marL="0" indent="0">
              <a:buNone/>
            </a:pPr>
            <a:r>
              <a:rPr lang="en-IN" sz="3600" dirty="0"/>
              <a:t>@app.get("/health")</a:t>
            </a:r>
          </a:p>
          <a:p>
            <a:pPr marL="0" indent="0">
              <a:buNone/>
            </a:pPr>
            <a:r>
              <a:rPr lang="en-IN" sz="3600" dirty="0"/>
              <a:t>def </a:t>
            </a:r>
            <a:r>
              <a:rPr lang="en-IN" sz="3600" dirty="0" err="1"/>
              <a:t>health_check</a:t>
            </a:r>
            <a:r>
              <a:rPr lang="en-IN" sz="3600" dirty="0"/>
              <a:t>():</a:t>
            </a:r>
          </a:p>
          <a:p>
            <a:pPr marL="0" indent="0">
              <a:buNone/>
            </a:pPr>
            <a:r>
              <a:rPr lang="en-IN" sz="3600" dirty="0"/>
              <a:t>    return {"status": "OK"}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5668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7CA935-05BF-546D-C386-5FF13A5A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Writing Unit Test for FastAPI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727F2-D36A-66A0-2A14-49AE7C033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b="1" dirty="0"/>
              <a:t>from </a:t>
            </a:r>
            <a:r>
              <a:rPr lang="en-IN" b="1" dirty="0" err="1"/>
              <a:t>fastapi.testclient</a:t>
            </a:r>
            <a:r>
              <a:rPr lang="en-IN" b="1" dirty="0"/>
              <a:t> import </a:t>
            </a:r>
            <a:r>
              <a:rPr lang="en-IN" b="1" dirty="0" err="1"/>
              <a:t>TestClient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from main import app</a:t>
            </a:r>
          </a:p>
          <a:p>
            <a:endParaRPr lang="en-IN" b="1" dirty="0"/>
          </a:p>
          <a:p>
            <a:pPr marL="0" indent="0">
              <a:buNone/>
            </a:pPr>
            <a:r>
              <a:rPr lang="en-IN" b="1" dirty="0"/>
              <a:t>client = </a:t>
            </a:r>
            <a:r>
              <a:rPr lang="en-IN" b="1" dirty="0" err="1"/>
              <a:t>TestClient</a:t>
            </a:r>
            <a:r>
              <a:rPr lang="en-IN" b="1" dirty="0"/>
              <a:t>(app)</a:t>
            </a:r>
          </a:p>
          <a:p>
            <a:endParaRPr lang="en-IN" b="1" dirty="0"/>
          </a:p>
          <a:p>
            <a:pPr marL="0" indent="0">
              <a:buNone/>
            </a:pPr>
            <a:r>
              <a:rPr lang="en-IN" b="1" dirty="0"/>
              <a:t>def </a:t>
            </a:r>
            <a:r>
              <a:rPr lang="en-IN" b="1" dirty="0" err="1"/>
              <a:t>test_health_check</a:t>
            </a:r>
            <a:r>
              <a:rPr lang="en-IN" b="1" dirty="0"/>
              <a:t>():</a:t>
            </a:r>
          </a:p>
          <a:p>
            <a:pPr marL="0" indent="0">
              <a:buNone/>
            </a:pPr>
            <a:r>
              <a:rPr lang="en-IN" b="1" dirty="0"/>
              <a:t>    response = </a:t>
            </a:r>
            <a:r>
              <a:rPr lang="en-IN" b="1" dirty="0" err="1"/>
              <a:t>client.get</a:t>
            </a:r>
            <a:r>
              <a:rPr lang="en-IN" b="1" dirty="0"/>
              <a:t>("/health")</a:t>
            </a:r>
          </a:p>
          <a:p>
            <a:pPr marL="0" indent="0">
              <a:buNone/>
            </a:pPr>
            <a:r>
              <a:rPr lang="en-IN" b="1" dirty="0"/>
              <a:t>    assert </a:t>
            </a:r>
            <a:r>
              <a:rPr lang="en-IN" b="1" dirty="0" err="1"/>
              <a:t>response.status_code</a:t>
            </a:r>
            <a:r>
              <a:rPr lang="en-IN" b="1" dirty="0"/>
              <a:t> == 200</a:t>
            </a:r>
          </a:p>
          <a:p>
            <a:pPr marL="0" indent="0">
              <a:buNone/>
            </a:pPr>
            <a:r>
              <a:rPr lang="en-IN" b="1" dirty="0"/>
              <a:t>    assert </a:t>
            </a:r>
            <a:r>
              <a:rPr lang="en-IN" b="1" dirty="0" err="1"/>
              <a:t>response.json</a:t>
            </a:r>
            <a:r>
              <a:rPr lang="en-IN" b="1" dirty="0"/>
              <a:t>() == {"status": "OK"}</a:t>
            </a:r>
          </a:p>
        </p:txBody>
      </p:sp>
    </p:spTree>
    <p:extLst>
      <p:ext uri="{BB962C8B-B14F-4D97-AF65-F5344CB8AC3E}">
        <p14:creationId xmlns:p14="http://schemas.microsoft.com/office/powerpoint/2010/main" val="1304516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D221C-F7F5-A0F8-09B9-5E82DE80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7EE96-93FA-210C-99B4-B46D3DDC8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dirty="0"/>
              <a:t>Running </a:t>
            </a:r>
            <a:r>
              <a:rPr lang="en-IN" dirty="0" err="1"/>
              <a:t>pytest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Pytest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For verbose output: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pytest</a:t>
            </a:r>
            <a:r>
              <a:rPr lang="en-IN" dirty="0"/>
              <a:t> -v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9367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3208B3-B4C2-D09E-BEC8-EC81432E1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 dirty="0"/>
              <a:t>What Are We Testing in </a:t>
            </a:r>
            <a:r>
              <a:rPr lang="en-US" b="1" dirty="0" err="1"/>
              <a:t>FastAPI</a:t>
            </a:r>
            <a:r>
              <a:rPr lang="en-US" b="1" dirty="0"/>
              <a:t>?</a:t>
            </a:r>
            <a:br>
              <a:rPr lang="en-US" b="1" dirty="0"/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2F955-E77B-E350-099E-C5897D454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API response status codes</a:t>
            </a:r>
          </a:p>
          <a:p>
            <a:r>
              <a:rPr lang="en-US" dirty="0"/>
              <a:t>Response data</a:t>
            </a:r>
          </a:p>
          <a:p>
            <a:r>
              <a:rPr lang="en-US" dirty="0"/>
              <a:t>Business logic</a:t>
            </a:r>
          </a:p>
          <a:p>
            <a:r>
              <a:rPr lang="en-US" dirty="0"/>
              <a:t>Validation errors</a:t>
            </a:r>
          </a:p>
          <a:p>
            <a:r>
              <a:rPr lang="en-US" dirty="0"/>
              <a:t>Authentication &amp; authorization</a:t>
            </a:r>
          </a:p>
        </p:txBody>
      </p:sp>
    </p:spTree>
    <p:extLst>
      <p:ext uri="{BB962C8B-B14F-4D97-AF65-F5344CB8AC3E}">
        <p14:creationId xmlns:p14="http://schemas.microsoft.com/office/powerpoint/2010/main" val="644457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61C77-A33C-7CD7-98F1-80A52BCFA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UNIT TESTING </a:t>
            </a:r>
          </a:p>
          <a:p>
            <a:pPr marL="0" indent="0" algn="ctr">
              <a:buNone/>
            </a:pPr>
            <a:r>
              <a:rPr lang="en-US" sz="4800" dirty="0"/>
              <a:t>IN </a:t>
            </a:r>
          </a:p>
          <a:p>
            <a:pPr marL="0" indent="0" algn="ctr">
              <a:buNone/>
            </a:pPr>
            <a:r>
              <a:rPr lang="en-US" sz="4800" dirty="0"/>
              <a:t>REACT </a:t>
            </a:r>
          </a:p>
          <a:p>
            <a:pPr marL="0" indent="0" algn="ctr">
              <a:buNone/>
            </a:pPr>
            <a:r>
              <a:rPr lang="en-US" sz="4800" dirty="0"/>
              <a:t>USING JEST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623019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76EAF-BFB6-59A5-0F2D-ADD3F560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 dirty="0"/>
              <a:t>What is Jest?</a:t>
            </a:r>
            <a:br>
              <a:rPr lang="en-US" b="1" dirty="0"/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4412A-954D-7DFD-F602-653367428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3600" dirty="0"/>
              <a:t>Jest is a </a:t>
            </a:r>
            <a:r>
              <a:rPr lang="en-US" sz="3600" b="1" dirty="0"/>
              <a:t>JavaScript testing framework</a:t>
            </a:r>
            <a:endParaRPr lang="en-US" sz="3600" dirty="0"/>
          </a:p>
          <a:p>
            <a:r>
              <a:rPr lang="en-US" sz="3600" dirty="0"/>
              <a:t>Developed by Facebook</a:t>
            </a:r>
          </a:p>
          <a:p>
            <a:r>
              <a:rPr lang="en-US" sz="3600" dirty="0"/>
              <a:t>Comes pre-configured with Create React App</a:t>
            </a:r>
          </a:p>
          <a:p>
            <a:r>
              <a:rPr lang="en-US" sz="3600" dirty="0"/>
              <a:t>Used for </a:t>
            </a:r>
            <a:r>
              <a:rPr lang="en-US" sz="3600" b="1" dirty="0"/>
              <a:t>unit and component testing</a:t>
            </a:r>
            <a:endParaRPr lang="en-US" sz="3600" dirty="0"/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826240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783E0-BE03-CFD1-48A4-64C899A2B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 dirty="0"/>
              <a:t>Jest in React (Setup)</a:t>
            </a:r>
            <a:br>
              <a:rPr lang="en-US" b="1" dirty="0"/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C9084-A75E-1768-B893-18AA577A1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3600" dirty="0"/>
              <a:t>If using Create React App:</a:t>
            </a:r>
          </a:p>
          <a:p>
            <a:r>
              <a:rPr lang="en-US" sz="3600" dirty="0"/>
              <a:t>Jest is </a:t>
            </a:r>
            <a:r>
              <a:rPr lang="en-US" sz="3600" b="1" dirty="0"/>
              <a:t>already installed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Otherwise:</a:t>
            </a:r>
          </a:p>
          <a:p>
            <a:r>
              <a:rPr lang="en-US" sz="3600" dirty="0" err="1"/>
              <a:t>npm</a:t>
            </a:r>
            <a:r>
              <a:rPr lang="en-US" sz="3600" dirty="0"/>
              <a:t> install --save-dev jest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917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AA439-BB59-35DA-6724-815FCD2D2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 dirty="0"/>
              <a:t>Basic Jest Test Example</a:t>
            </a:r>
            <a:br>
              <a:rPr lang="en-US" b="1" dirty="0"/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FA89B-0632-178C-F738-F491FB24A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test("adds two numbers", () =&gt; {</a:t>
            </a:r>
          </a:p>
          <a:p>
            <a:pPr marL="0" indent="0">
              <a:buNone/>
            </a:pPr>
            <a:r>
              <a:rPr lang="en-US" dirty="0"/>
              <a:t>  expect(2 + 3).</a:t>
            </a:r>
            <a:r>
              <a:rPr lang="en-US" dirty="0" err="1"/>
              <a:t>toBe</a:t>
            </a:r>
            <a:r>
              <a:rPr lang="en-US" dirty="0"/>
              <a:t>(5);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1314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4F094-9860-963C-AB6E-ED6DF5306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 dirty="0"/>
              <a:t>Testing a React Component</a:t>
            </a:r>
            <a:br>
              <a:rPr lang="en-US" b="1" dirty="0"/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EE534-5234-AA09-B284-AB006C04E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4000" b="1" dirty="0"/>
              <a:t>Sample Component</a:t>
            </a:r>
          </a:p>
          <a:p>
            <a:pPr marL="0" indent="0">
              <a:buNone/>
            </a:pPr>
            <a:r>
              <a:rPr lang="en-US" sz="4000" dirty="0"/>
              <a:t>function Greeting() {</a:t>
            </a:r>
          </a:p>
          <a:p>
            <a:pPr marL="0" indent="0">
              <a:buNone/>
            </a:pPr>
            <a:r>
              <a:rPr lang="en-US" sz="4000" dirty="0"/>
              <a:t>  return &lt;h1&gt;Hello World&lt;/h1&gt;;</a:t>
            </a:r>
          </a:p>
          <a:p>
            <a:pPr marL="0" indent="0">
              <a:buNone/>
            </a:pPr>
            <a:r>
              <a:rPr lang="en-US" sz="4000" dirty="0"/>
              <a:t>}</a:t>
            </a:r>
          </a:p>
          <a:p>
            <a:pPr marL="0" indent="0">
              <a:buNone/>
            </a:pPr>
            <a:br>
              <a:rPr lang="en-US" sz="4000" dirty="0"/>
            </a:br>
            <a:r>
              <a:rPr lang="en-US" sz="4000" dirty="0"/>
              <a:t>export default Greeting;</a:t>
            </a: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117524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00544-C367-5346-E5CC-60A3C1E81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/>
              <a:t>Jest Test for React Component</a:t>
            </a:r>
            <a:br>
              <a:rPr lang="en-US" dirty="0"/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D47D0-E64A-C8A0-CDC5-8510C975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endParaRPr lang="en-US" b="1" dirty="0"/>
          </a:p>
          <a:p>
            <a:pPr marL="0" indent="0">
              <a:buNone/>
            </a:pPr>
            <a:r>
              <a:rPr lang="en-IN" b="1" dirty="0"/>
              <a:t>import { render, screen } from "@testing-library/react";</a:t>
            </a:r>
          </a:p>
          <a:p>
            <a:pPr marL="0" indent="0">
              <a:buNone/>
            </a:pPr>
            <a:r>
              <a:rPr lang="en-IN" b="1" dirty="0"/>
              <a:t>import Greeting from "./Greeting";</a:t>
            </a:r>
          </a:p>
          <a:p>
            <a:endParaRPr lang="en-IN" b="1" dirty="0"/>
          </a:p>
          <a:p>
            <a:pPr marL="0" indent="0">
              <a:buNone/>
            </a:pPr>
            <a:r>
              <a:rPr lang="en-IN" b="1" dirty="0"/>
              <a:t>test("renders greeting text", () =&gt; {</a:t>
            </a:r>
          </a:p>
          <a:p>
            <a:pPr marL="0" indent="0">
              <a:buNone/>
            </a:pPr>
            <a:r>
              <a:rPr lang="en-IN" b="1" dirty="0"/>
              <a:t>  render(&lt;Greeting /&gt;);</a:t>
            </a:r>
          </a:p>
          <a:p>
            <a:pPr marL="0" indent="0">
              <a:buNone/>
            </a:pPr>
            <a:r>
              <a:rPr lang="en-IN" b="1" dirty="0"/>
              <a:t>  </a:t>
            </a:r>
            <a:r>
              <a:rPr lang="en-IN" b="1" dirty="0" err="1"/>
              <a:t>const</a:t>
            </a:r>
            <a:r>
              <a:rPr lang="en-IN" b="1" dirty="0"/>
              <a:t> text = </a:t>
            </a:r>
            <a:r>
              <a:rPr lang="en-IN" b="1" dirty="0" err="1"/>
              <a:t>screen.getByText</a:t>
            </a:r>
            <a:r>
              <a:rPr lang="en-IN" b="1" dirty="0"/>
              <a:t>("Hello World");</a:t>
            </a:r>
          </a:p>
          <a:p>
            <a:pPr marL="0" indent="0">
              <a:buNone/>
            </a:pPr>
            <a:r>
              <a:rPr lang="en-IN" b="1" dirty="0"/>
              <a:t>  expect(text).</a:t>
            </a:r>
            <a:r>
              <a:rPr lang="en-IN" b="1" dirty="0" err="1"/>
              <a:t>toBeInTheDocument</a:t>
            </a:r>
            <a:r>
              <a:rPr lang="en-IN" b="1" dirty="0"/>
              <a:t>();</a:t>
            </a:r>
          </a:p>
          <a:p>
            <a:pPr marL="0" indent="0">
              <a:buNone/>
            </a:pPr>
            <a:r>
              <a:rPr lang="en-IN" b="1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236824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C2968-BF0F-3F09-0B38-D6F943AE6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E5B12-83C4-990D-B5B9-211E0D416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dirty="0" err="1"/>
              <a:t>npm</a:t>
            </a:r>
            <a:r>
              <a:rPr lang="en-IN" dirty="0"/>
              <a:t> test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 err="1"/>
              <a:t>npm</a:t>
            </a:r>
            <a:r>
              <a:rPr lang="en-IN" dirty="0"/>
              <a:t> run test</a:t>
            </a:r>
          </a:p>
        </p:txBody>
      </p:sp>
    </p:spTree>
    <p:extLst>
      <p:ext uri="{BB962C8B-B14F-4D97-AF65-F5344CB8AC3E}">
        <p14:creationId xmlns:p14="http://schemas.microsoft.com/office/powerpoint/2010/main" val="2122133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2B368B-E78E-EEA3-6EE4-E8DBF6695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 dirty="0"/>
              <a:t>Benefits of Unit Testing in React</a:t>
            </a:r>
            <a:br>
              <a:rPr lang="en-US" b="1" dirty="0"/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1EDCA-97F6-43A6-4D94-2FB8FCA77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Ensures UI behaves correctly</a:t>
            </a:r>
          </a:p>
          <a:p>
            <a:r>
              <a:rPr lang="en-US" dirty="0"/>
              <a:t>Prevents breaking changes</a:t>
            </a:r>
          </a:p>
          <a:p>
            <a:r>
              <a:rPr lang="en-US" dirty="0"/>
              <a:t>Improves component reusability</a:t>
            </a:r>
          </a:p>
          <a:p>
            <a:r>
              <a:rPr lang="en-US" dirty="0"/>
              <a:t>Increases confidence during refactoring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014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C8402-CA58-D3CA-9042-0611C458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 dirty="0"/>
              <a:t>Summary</a:t>
            </a:r>
            <a:br>
              <a:rPr lang="en-US" b="1" dirty="0"/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C25D2-495C-93AD-4150-854A27737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Testing ensures </a:t>
            </a:r>
            <a:r>
              <a:rPr lang="en-US" b="1" dirty="0"/>
              <a:t>quality and reliability</a:t>
            </a:r>
            <a:endParaRPr lang="en-US" dirty="0"/>
          </a:p>
          <a:p>
            <a:r>
              <a:rPr lang="en-US" dirty="0"/>
              <a:t>Unit Testing validates </a:t>
            </a:r>
            <a:r>
              <a:rPr lang="en-US" b="1" dirty="0"/>
              <a:t>small code units</a:t>
            </a:r>
            <a:endParaRPr lang="en-US" dirty="0"/>
          </a:p>
          <a:p>
            <a:r>
              <a:rPr lang="en-US" dirty="0" err="1"/>
              <a:t>pytest</a:t>
            </a:r>
            <a:r>
              <a:rPr lang="en-US" dirty="0"/>
              <a:t> is used for </a:t>
            </a:r>
            <a:r>
              <a:rPr lang="en-US" b="1" dirty="0" err="1"/>
              <a:t>FastAPI</a:t>
            </a:r>
            <a:r>
              <a:rPr lang="en-US" b="1" dirty="0"/>
              <a:t> backend</a:t>
            </a:r>
            <a:endParaRPr lang="en-US" dirty="0"/>
          </a:p>
          <a:p>
            <a:r>
              <a:rPr lang="en-US" dirty="0"/>
              <a:t>Jest is used for </a:t>
            </a:r>
            <a:r>
              <a:rPr lang="en-US" b="1" dirty="0"/>
              <a:t>React frontend</a:t>
            </a:r>
            <a:endParaRPr lang="en-US" dirty="0"/>
          </a:p>
          <a:p>
            <a:r>
              <a:rPr lang="en-US" dirty="0"/>
              <a:t>Unit tests improve maintainability and confidence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2859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D9D4E09A5E914D9030FD07281D9ECE" ma:contentTypeVersion="16" ma:contentTypeDescription="Create a new document." ma:contentTypeScope="" ma:versionID="d5aae188d85dc803d4af71be1f47a457">
  <xsd:schema xmlns:xsd="http://www.w3.org/2001/XMLSchema" xmlns:xs="http://www.w3.org/2001/XMLSchema" xmlns:p="http://schemas.microsoft.com/office/2006/metadata/properties" xmlns:ns3="a91dc4cd-35e3-4459-a56e-2342dff95639" xmlns:ns4="0aad271a-e96f-42b8-a97a-64ae36ffcc9b" targetNamespace="http://schemas.microsoft.com/office/2006/metadata/properties" ma:root="true" ma:fieldsID="138b03683c34457f3fcbf2552b3dec17" ns3:_="" ns4:_="">
    <xsd:import namespace="a91dc4cd-35e3-4459-a56e-2342dff95639"/>
    <xsd:import namespace="0aad271a-e96f-42b8-a97a-64ae36ffcc9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1dc4cd-35e3-4459-a56e-2342dff956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ad271a-e96f-42b8-a97a-64ae36ffcc9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1dc4cd-35e3-4459-a56e-2342dff95639" xsi:nil="true"/>
  </documentManagement>
</p:properties>
</file>

<file path=customXml/itemProps1.xml><?xml version="1.0" encoding="utf-8"?>
<ds:datastoreItem xmlns:ds="http://schemas.openxmlformats.org/officeDocument/2006/customXml" ds:itemID="{CDCC8F5C-6143-4A42-B0C2-D8A96A5669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1dc4cd-35e3-4459-a56e-2342dff95639"/>
    <ds:schemaRef ds:uri="0aad271a-e96f-42b8-a97a-64ae36ffcc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8B8B28-D836-404F-9706-A768B07232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0BDD1C-61F0-4C40-B858-DE98D5E58F27}">
  <ds:schemaRefs>
    <ds:schemaRef ds:uri="http://purl.org/dc/terms/"/>
    <ds:schemaRef ds:uri="http://purl.org/dc/dcmitype/"/>
    <ds:schemaRef ds:uri="http://schemas.microsoft.com/office/2006/documentManagement/types"/>
    <ds:schemaRef ds:uri="a91dc4cd-35e3-4459-a56e-2342dff95639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0aad271a-e96f-42b8-a97a-64ae36ffcc9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654</Words>
  <Application>Microsoft Office PowerPoint</Application>
  <PresentationFormat>Widescreen</PresentationFormat>
  <Paragraphs>149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Office Theme</vt:lpstr>
      <vt:lpstr>Unit Testing</vt:lpstr>
      <vt:lpstr>What is Software Testing?</vt:lpstr>
      <vt:lpstr>Why Do We Need Testing?</vt:lpstr>
      <vt:lpstr>Types of Software Testing</vt:lpstr>
      <vt:lpstr>Types of Software Testing (contd)</vt:lpstr>
      <vt:lpstr>PowerPoint Presentation</vt:lpstr>
      <vt:lpstr>What is Unit Testing?</vt:lpstr>
      <vt:lpstr>Advantages of Unit Testing</vt:lpstr>
      <vt:lpstr>Unit Testing Tools</vt:lpstr>
      <vt:lpstr>UNIT TESTING  IN  FAST-API USING  PYTEST</vt:lpstr>
      <vt:lpstr>PowerPoint Presentation</vt:lpstr>
      <vt:lpstr>Installing pytest for FastAPI </vt:lpstr>
      <vt:lpstr>Basic pytest Rules </vt:lpstr>
      <vt:lpstr>PowerPoint Presentation</vt:lpstr>
      <vt:lpstr>Sample FastAPI App </vt:lpstr>
      <vt:lpstr>Writing Unit Test for FastAPI</vt:lpstr>
      <vt:lpstr>PowerPoint Presentation</vt:lpstr>
      <vt:lpstr>What Are We Testing in FastAPI? </vt:lpstr>
      <vt:lpstr>PowerPoint Presentation</vt:lpstr>
      <vt:lpstr>What is Jest? </vt:lpstr>
      <vt:lpstr>Jest in React (Setup) </vt:lpstr>
      <vt:lpstr>Basic Jest Test Example </vt:lpstr>
      <vt:lpstr>Testing a React Component </vt:lpstr>
      <vt:lpstr>Jest Test for React Component </vt:lpstr>
      <vt:lpstr>PowerPoint Presentation</vt:lpstr>
      <vt:lpstr>Benefits of Unit Testing in React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Pasupuleti Samatha [UNext]</dc:creator>
  <cp:lastModifiedBy>Pasupuleti Samatha [UNext]</cp:lastModifiedBy>
  <cp:revision>1</cp:revision>
  <dcterms:created xsi:type="dcterms:W3CDTF">2026-02-10T15:45:20Z</dcterms:created>
  <dcterms:modified xsi:type="dcterms:W3CDTF">2026-02-10T16:04:04Z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0x01010032D9D4E09A5E914D9030FD07281D9ECE</vt:lpwstr>
  </property>
</Properties>
</file>